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16" r:id="rId2"/>
    <p:sldId id="317" r:id="rId3"/>
    <p:sldId id="318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34" r:id="rId12"/>
    <p:sldId id="335" r:id="rId13"/>
    <p:sldId id="336" r:id="rId14"/>
    <p:sldId id="326" r:id="rId15"/>
    <p:sldId id="327" r:id="rId16"/>
    <p:sldId id="338" r:id="rId17"/>
    <p:sldId id="337" r:id="rId18"/>
    <p:sldId id="328" r:id="rId19"/>
    <p:sldId id="339" r:id="rId20"/>
    <p:sldId id="346" r:id="rId21"/>
    <p:sldId id="347" r:id="rId22"/>
    <p:sldId id="348" r:id="rId23"/>
    <p:sldId id="349" r:id="rId24"/>
    <p:sldId id="350" r:id="rId25"/>
    <p:sldId id="340" r:id="rId26"/>
    <p:sldId id="341" r:id="rId27"/>
    <p:sldId id="342" r:id="rId28"/>
    <p:sldId id="343" r:id="rId29"/>
    <p:sldId id="344" r:id="rId30"/>
    <p:sldId id="345" r:id="rId31"/>
    <p:sldId id="329" r:id="rId32"/>
    <p:sldId id="330" r:id="rId33"/>
    <p:sldId id="331" r:id="rId34"/>
    <p:sldId id="332" r:id="rId35"/>
    <p:sldId id="33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E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AC4CB3-B8C5-4CC0-9A08-91C05ED8C662}" type="doc">
      <dgm:prSet loTypeId="urn:microsoft.com/office/officeart/2005/8/layout/vList5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AA2C26F-BF13-478E-89B7-93E79923A9F8}">
      <dgm:prSet/>
      <dgm:spPr/>
      <dgm:t>
        <a:bodyPr/>
        <a:lstStyle/>
        <a:p>
          <a:r>
            <a:rPr lang="en-US" b="1"/>
            <a:t>Nmap</a:t>
          </a:r>
          <a:r>
            <a:rPr lang="en-US"/>
            <a:t> – Network scanning and service discovery</a:t>
          </a:r>
        </a:p>
      </dgm:t>
    </dgm:pt>
    <dgm:pt modelId="{BF385203-32F7-455C-AA0F-43BF0186AF0A}" type="parTrans" cxnId="{9FDCB0EF-40DD-4855-B77B-DA990DA49CBD}">
      <dgm:prSet/>
      <dgm:spPr/>
      <dgm:t>
        <a:bodyPr/>
        <a:lstStyle/>
        <a:p>
          <a:endParaRPr lang="en-US"/>
        </a:p>
      </dgm:t>
    </dgm:pt>
    <dgm:pt modelId="{ABBCB5F2-8B2F-408F-B059-9AC9C6A1B7F6}" type="sibTrans" cxnId="{9FDCB0EF-40DD-4855-B77B-DA990DA49CBD}">
      <dgm:prSet/>
      <dgm:spPr/>
      <dgm:t>
        <a:bodyPr/>
        <a:lstStyle/>
        <a:p>
          <a:endParaRPr lang="en-US"/>
        </a:p>
      </dgm:t>
    </dgm:pt>
    <dgm:pt modelId="{A75175A1-7B93-476C-9D6D-79118445A8B6}">
      <dgm:prSet/>
      <dgm:spPr/>
      <dgm:t>
        <a:bodyPr/>
        <a:lstStyle/>
        <a:p>
          <a:r>
            <a:rPr lang="en-US" b="1"/>
            <a:t>Whois</a:t>
          </a:r>
          <a:r>
            <a:rPr lang="en-US"/>
            <a:t> – Domain registration and ownership lookup</a:t>
          </a:r>
        </a:p>
      </dgm:t>
    </dgm:pt>
    <dgm:pt modelId="{B8CD3D0A-6BA1-45C5-8A3A-1F5A38126D49}" type="parTrans" cxnId="{D8F6C2AA-8836-41F0-A7A2-1F076F810533}">
      <dgm:prSet/>
      <dgm:spPr/>
      <dgm:t>
        <a:bodyPr/>
        <a:lstStyle/>
        <a:p>
          <a:endParaRPr lang="en-US"/>
        </a:p>
      </dgm:t>
    </dgm:pt>
    <dgm:pt modelId="{335AFAA3-8626-46FE-AB54-4175DE3A431E}" type="sibTrans" cxnId="{D8F6C2AA-8836-41F0-A7A2-1F076F810533}">
      <dgm:prSet/>
      <dgm:spPr/>
      <dgm:t>
        <a:bodyPr/>
        <a:lstStyle/>
        <a:p>
          <a:endParaRPr lang="en-US"/>
        </a:p>
      </dgm:t>
    </dgm:pt>
    <dgm:pt modelId="{81DFF3AE-B54A-4242-B999-53DEED7CB903}">
      <dgm:prSet/>
      <dgm:spPr/>
      <dgm:t>
        <a:bodyPr/>
        <a:lstStyle/>
        <a:p>
          <a:r>
            <a:rPr lang="en-US" b="1"/>
            <a:t>Google Dorks</a:t>
          </a:r>
          <a:r>
            <a:rPr lang="en-US"/>
            <a:t> – Advanced search queries for OSINT</a:t>
          </a:r>
        </a:p>
      </dgm:t>
    </dgm:pt>
    <dgm:pt modelId="{6A6A1010-9C86-48BD-AFBD-F2BE84B8B841}" type="parTrans" cxnId="{B126A8FC-E829-4EAD-9EAC-BE4B87FC4F7B}">
      <dgm:prSet/>
      <dgm:spPr/>
      <dgm:t>
        <a:bodyPr/>
        <a:lstStyle/>
        <a:p>
          <a:endParaRPr lang="en-US"/>
        </a:p>
      </dgm:t>
    </dgm:pt>
    <dgm:pt modelId="{0DB43D73-2ECC-41F3-956A-40868162FF61}" type="sibTrans" cxnId="{B126A8FC-E829-4EAD-9EAC-BE4B87FC4F7B}">
      <dgm:prSet/>
      <dgm:spPr/>
      <dgm:t>
        <a:bodyPr/>
        <a:lstStyle/>
        <a:p>
          <a:endParaRPr lang="en-US"/>
        </a:p>
      </dgm:t>
    </dgm:pt>
    <dgm:pt modelId="{5DDC4165-594F-4ADA-A2EC-BD3C771EAD4B}">
      <dgm:prSet/>
      <dgm:spPr/>
      <dgm:t>
        <a:bodyPr/>
        <a:lstStyle/>
        <a:p>
          <a:r>
            <a:rPr lang="en-US" b="1"/>
            <a:t>Web Browser</a:t>
          </a:r>
          <a:r>
            <a:rPr lang="en-US"/>
            <a:t> – For searches and verification</a:t>
          </a:r>
        </a:p>
      </dgm:t>
    </dgm:pt>
    <dgm:pt modelId="{2E888D75-7C55-49FB-84BC-3DF15AD63622}" type="parTrans" cxnId="{CCEA1F42-4B4E-45A6-B875-345A3309C2AA}">
      <dgm:prSet/>
      <dgm:spPr/>
      <dgm:t>
        <a:bodyPr/>
        <a:lstStyle/>
        <a:p>
          <a:endParaRPr lang="en-US"/>
        </a:p>
      </dgm:t>
    </dgm:pt>
    <dgm:pt modelId="{2EE09A15-1A45-4F93-BD64-E68F5E162BDF}" type="sibTrans" cxnId="{CCEA1F42-4B4E-45A6-B875-345A3309C2AA}">
      <dgm:prSet/>
      <dgm:spPr/>
      <dgm:t>
        <a:bodyPr/>
        <a:lstStyle/>
        <a:p>
          <a:endParaRPr lang="en-US"/>
        </a:p>
      </dgm:t>
    </dgm:pt>
    <dgm:pt modelId="{6EEC13DF-2881-41F1-9AE2-376218967353}" type="pres">
      <dgm:prSet presAssocID="{30AC4CB3-B8C5-4CC0-9A08-91C05ED8C662}" presName="Name0" presStyleCnt="0">
        <dgm:presLayoutVars>
          <dgm:dir/>
          <dgm:animLvl val="lvl"/>
          <dgm:resizeHandles val="exact"/>
        </dgm:presLayoutVars>
      </dgm:prSet>
      <dgm:spPr/>
    </dgm:pt>
    <dgm:pt modelId="{9718DC02-7A3B-44BD-B4C6-F4FEEAC230BB}" type="pres">
      <dgm:prSet presAssocID="{DAA2C26F-BF13-478E-89B7-93E79923A9F8}" presName="linNode" presStyleCnt="0"/>
      <dgm:spPr/>
    </dgm:pt>
    <dgm:pt modelId="{A761ED39-5EB0-4694-8CF4-B947AE9F306F}" type="pres">
      <dgm:prSet presAssocID="{DAA2C26F-BF13-478E-89B7-93E79923A9F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7407332-AA53-425D-8A2D-F7133F1286F6}" type="pres">
      <dgm:prSet presAssocID="{ABBCB5F2-8B2F-408F-B059-9AC9C6A1B7F6}" presName="sp" presStyleCnt="0"/>
      <dgm:spPr/>
    </dgm:pt>
    <dgm:pt modelId="{045C40CD-1541-4695-B547-615A725B3451}" type="pres">
      <dgm:prSet presAssocID="{A75175A1-7B93-476C-9D6D-79118445A8B6}" presName="linNode" presStyleCnt="0"/>
      <dgm:spPr/>
    </dgm:pt>
    <dgm:pt modelId="{BCB49FDD-D5E7-426B-9AC5-E880A097040B}" type="pres">
      <dgm:prSet presAssocID="{A75175A1-7B93-476C-9D6D-79118445A8B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5714F82-ED31-4ACB-845C-CB586DB77401}" type="pres">
      <dgm:prSet presAssocID="{335AFAA3-8626-46FE-AB54-4175DE3A431E}" presName="sp" presStyleCnt="0"/>
      <dgm:spPr/>
    </dgm:pt>
    <dgm:pt modelId="{2028D42D-4379-41EE-9F84-585EE1EB7AA2}" type="pres">
      <dgm:prSet presAssocID="{81DFF3AE-B54A-4242-B999-53DEED7CB903}" presName="linNode" presStyleCnt="0"/>
      <dgm:spPr/>
    </dgm:pt>
    <dgm:pt modelId="{8E98BBF7-5DFC-4F35-8642-ED68DC0190A0}" type="pres">
      <dgm:prSet presAssocID="{81DFF3AE-B54A-4242-B999-53DEED7CB90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1AFE48D-A9D2-41EB-AA70-02F6F3A33D85}" type="pres">
      <dgm:prSet presAssocID="{0DB43D73-2ECC-41F3-956A-40868162FF61}" presName="sp" presStyleCnt="0"/>
      <dgm:spPr/>
    </dgm:pt>
    <dgm:pt modelId="{8F369029-9DC9-4AB8-8CE5-801ADC0792AB}" type="pres">
      <dgm:prSet presAssocID="{5DDC4165-594F-4ADA-A2EC-BD3C771EAD4B}" presName="linNode" presStyleCnt="0"/>
      <dgm:spPr/>
    </dgm:pt>
    <dgm:pt modelId="{7E0A7060-EF24-46C9-9901-7F38CE7C65EF}" type="pres">
      <dgm:prSet presAssocID="{5DDC4165-594F-4ADA-A2EC-BD3C771EAD4B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0D4BE934-8AA8-4CD8-AD29-D15DE17D9155}" type="presOf" srcId="{5DDC4165-594F-4ADA-A2EC-BD3C771EAD4B}" destId="{7E0A7060-EF24-46C9-9901-7F38CE7C65EF}" srcOrd="0" destOrd="0" presId="urn:microsoft.com/office/officeart/2005/8/layout/vList5"/>
    <dgm:cxn modelId="{1AAB2A5D-7F99-4FDD-887E-BC2945E9ADB7}" type="presOf" srcId="{81DFF3AE-B54A-4242-B999-53DEED7CB903}" destId="{8E98BBF7-5DFC-4F35-8642-ED68DC0190A0}" srcOrd="0" destOrd="0" presId="urn:microsoft.com/office/officeart/2005/8/layout/vList5"/>
    <dgm:cxn modelId="{CCEA1F42-4B4E-45A6-B875-345A3309C2AA}" srcId="{30AC4CB3-B8C5-4CC0-9A08-91C05ED8C662}" destId="{5DDC4165-594F-4ADA-A2EC-BD3C771EAD4B}" srcOrd="3" destOrd="0" parTransId="{2E888D75-7C55-49FB-84BC-3DF15AD63622}" sibTransId="{2EE09A15-1A45-4F93-BD64-E68F5E162BDF}"/>
    <dgm:cxn modelId="{A7432199-EA4A-4B2F-82B2-8E4440D5062E}" type="presOf" srcId="{30AC4CB3-B8C5-4CC0-9A08-91C05ED8C662}" destId="{6EEC13DF-2881-41F1-9AE2-376218967353}" srcOrd="0" destOrd="0" presId="urn:microsoft.com/office/officeart/2005/8/layout/vList5"/>
    <dgm:cxn modelId="{4E2BFA9E-19C1-4B74-801D-D8AC46AFE38E}" type="presOf" srcId="{A75175A1-7B93-476C-9D6D-79118445A8B6}" destId="{BCB49FDD-D5E7-426B-9AC5-E880A097040B}" srcOrd="0" destOrd="0" presId="urn:microsoft.com/office/officeart/2005/8/layout/vList5"/>
    <dgm:cxn modelId="{D8F6C2AA-8836-41F0-A7A2-1F076F810533}" srcId="{30AC4CB3-B8C5-4CC0-9A08-91C05ED8C662}" destId="{A75175A1-7B93-476C-9D6D-79118445A8B6}" srcOrd="1" destOrd="0" parTransId="{B8CD3D0A-6BA1-45C5-8A3A-1F5A38126D49}" sibTransId="{335AFAA3-8626-46FE-AB54-4175DE3A431E}"/>
    <dgm:cxn modelId="{9FDCB0EF-40DD-4855-B77B-DA990DA49CBD}" srcId="{30AC4CB3-B8C5-4CC0-9A08-91C05ED8C662}" destId="{DAA2C26F-BF13-478E-89B7-93E79923A9F8}" srcOrd="0" destOrd="0" parTransId="{BF385203-32F7-455C-AA0F-43BF0186AF0A}" sibTransId="{ABBCB5F2-8B2F-408F-B059-9AC9C6A1B7F6}"/>
    <dgm:cxn modelId="{58F4C4FB-1A37-4C8C-B9BC-55FF7705EDD1}" type="presOf" srcId="{DAA2C26F-BF13-478E-89B7-93E79923A9F8}" destId="{A761ED39-5EB0-4694-8CF4-B947AE9F306F}" srcOrd="0" destOrd="0" presId="urn:microsoft.com/office/officeart/2005/8/layout/vList5"/>
    <dgm:cxn modelId="{B126A8FC-E829-4EAD-9EAC-BE4B87FC4F7B}" srcId="{30AC4CB3-B8C5-4CC0-9A08-91C05ED8C662}" destId="{81DFF3AE-B54A-4242-B999-53DEED7CB903}" srcOrd="2" destOrd="0" parTransId="{6A6A1010-9C86-48BD-AFBD-F2BE84B8B841}" sibTransId="{0DB43D73-2ECC-41F3-956A-40868162FF61}"/>
    <dgm:cxn modelId="{8BD6C262-0906-4408-BBB6-6793139B07AA}" type="presParOf" srcId="{6EEC13DF-2881-41F1-9AE2-376218967353}" destId="{9718DC02-7A3B-44BD-B4C6-F4FEEAC230BB}" srcOrd="0" destOrd="0" presId="urn:microsoft.com/office/officeart/2005/8/layout/vList5"/>
    <dgm:cxn modelId="{14873481-2309-4D54-9238-F35ACFD56F50}" type="presParOf" srcId="{9718DC02-7A3B-44BD-B4C6-F4FEEAC230BB}" destId="{A761ED39-5EB0-4694-8CF4-B947AE9F306F}" srcOrd="0" destOrd="0" presId="urn:microsoft.com/office/officeart/2005/8/layout/vList5"/>
    <dgm:cxn modelId="{A6650E9E-35D5-4D76-AB07-D13F9AB866E7}" type="presParOf" srcId="{6EEC13DF-2881-41F1-9AE2-376218967353}" destId="{37407332-AA53-425D-8A2D-F7133F1286F6}" srcOrd="1" destOrd="0" presId="urn:microsoft.com/office/officeart/2005/8/layout/vList5"/>
    <dgm:cxn modelId="{0E3BBA07-2F02-425B-93EC-77426B92340D}" type="presParOf" srcId="{6EEC13DF-2881-41F1-9AE2-376218967353}" destId="{045C40CD-1541-4695-B547-615A725B3451}" srcOrd="2" destOrd="0" presId="urn:microsoft.com/office/officeart/2005/8/layout/vList5"/>
    <dgm:cxn modelId="{8BF487DC-9A91-4241-A71C-75C9AA3D227B}" type="presParOf" srcId="{045C40CD-1541-4695-B547-615A725B3451}" destId="{BCB49FDD-D5E7-426B-9AC5-E880A097040B}" srcOrd="0" destOrd="0" presId="urn:microsoft.com/office/officeart/2005/8/layout/vList5"/>
    <dgm:cxn modelId="{5FC5AFB0-A72A-4BB7-BC2F-621647A852CD}" type="presParOf" srcId="{6EEC13DF-2881-41F1-9AE2-376218967353}" destId="{85714F82-ED31-4ACB-845C-CB586DB77401}" srcOrd="3" destOrd="0" presId="urn:microsoft.com/office/officeart/2005/8/layout/vList5"/>
    <dgm:cxn modelId="{D30D593F-B12C-44FE-9CDA-0CD2CDF185BD}" type="presParOf" srcId="{6EEC13DF-2881-41F1-9AE2-376218967353}" destId="{2028D42D-4379-41EE-9F84-585EE1EB7AA2}" srcOrd="4" destOrd="0" presId="urn:microsoft.com/office/officeart/2005/8/layout/vList5"/>
    <dgm:cxn modelId="{5C06FD63-67CB-4458-8917-4F2518D0D2D5}" type="presParOf" srcId="{2028D42D-4379-41EE-9F84-585EE1EB7AA2}" destId="{8E98BBF7-5DFC-4F35-8642-ED68DC0190A0}" srcOrd="0" destOrd="0" presId="urn:microsoft.com/office/officeart/2005/8/layout/vList5"/>
    <dgm:cxn modelId="{A79C72E6-DF71-4FB1-9C82-47774A7E1463}" type="presParOf" srcId="{6EEC13DF-2881-41F1-9AE2-376218967353}" destId="{91AFE48D-A9D2-41EB-AA70-02F6F3A33D85}" srcOrd="5" destOrd="0" presId="urn:microsoft.com/office/officeart/2005/8/layout/vList5"/>
    <dgm:cxn modelId="{1E552110-5551-4EE5-A362-D220E78020E3}" type="presParOf" srcId="{6EEC13DF-2881-41F1-9AE2-376218967353}" destId="{8F369029-9DC9-4AB8-8CE5-801ADC0792AB}" srcOrd="6" destOrd="0" presId="urn:microsoft.com/office/officeart/2005/8/layout/vList5"/>
    <dgm:cxn modelId="{B3F776EB-E375-49E2-B312-CF65EC40FD19}" type="presParOf" srcId="{8F369029-9DC9-4AB8-8CE5-801ADC0792AB}" destId="{7E0A7060-EF24-46C9-9901-7F38CE7C65E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61ED39-5EB0-4694-8CF4-B947AE9F306F}">
      <dsp:nvSpPr>
        <dsp:cNvPr id="0" name=""/>
        <dsp:cNvSpPr/>
      </dsp:nvSpPr>
      <dsp:spPr>
        <a:xfrm>
          <a:off x="3759569" y="2592"/>
          <a:ext cx="4229515" cy="124680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Nmap</a:t>
          </a:r>
          <a:r>
            <a:rPr lang="en-US" sz="2500" kern="1200"/>
            <a:t> – Network scanning and service discovery</a:t>
          </a:r>
        </a:p>
      </dsp:txBody>
      <dsp:txXfrm>
        <a:off x="3820433" y="63456"/>
        <a:ext cx="4107787" cy="1125079"/>
      </dsp:txXfrm>
    </dsp:sp>
    <dsp:sp modelId="{BCB49FDD-D5E7-426B-9AC5-E880A097040B}">
      <dsp:nvSpPr>
        <dsp:cNvPr id="0" name=""/>
        <dsp:cNvSpPr/>
      </dsp:nvSpPr>
      <dsp:spPr>
        <a:xfrm>
          <a:off x="3759569" y="1311740"/>
          <a:ext cx="4229515" cy="124680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Whois</a:t>
          </a:r>
          <a:r>
            <a:rPr lang="en-US" sz="2500" kern="1200"/>
            <a:t> – Domain registration and ownership lookup</a:t>
          </a:r>
        </a:p>
      </dsp:txBody>
      <dsp:txXfrm>
        <a:off x="3820433" y="1372604"/>
        <a:ext cx="4107787" cy="1125079"/>
      </dsp:txXfrm>
    </dsp:sp>
    <dsp:sp modelId="{8E98BBF7-5DFC-4F35-8642-ED68DC0190A0}">
      <dsp:nvSpPr>
        <dsp:cNvPr id="0" name=""/>
        <dsp:cNvSpPr/>
      </dsp:nvSpPr>
      <dsp:spPr>
        <a:xfrm>
          <a:off x="3759569" y="2620888"/>
          <a:ext cx="4229515" cy="124680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Google Dorks</a:t>
          </a:r>
          <a:r>
            <a:rPr lang="en-US" sz="2500" kern="1200"/>
            <a:t> – Advanced search queries for OSINT</a:t>
          </a:r>
        </a:p>
      </dsp:txBody>
      <dsp:txXfrm>
        <a:off x="3820433" y="2681752"/>
        <a:ext cx="4107787" cy="1125079"/>
      </dsp:txXfrm>
    </dsp:sp>
    <dsp:sp modelId="{7E0A7060-EF24-46C9-9901-7F38CE7C65EF}">
      <dsp:nvSpPr>
        <dsp:cNvPr id="0" name=""/>
        <dsp:cNvSpPr/>
      </dsp:nvSpPr>
      <dsp:spPr>
        <a:xfrm>
          <a:off x="3759569" y="3930036"/>
          <a:ext cx="4229515" cy="124680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Web Browser</a:t>
          </a:r>
          <a:r>
            <a:rPr lang="en-US" sz="2500" kern="1200"/>
            <a:t> – For searches and verification</a:t>
          </a:r>
        </a:p>
      </dsp:txBody>
      <dsp:txXfrm>
        <a:off x="3820433" y="3990900"/>
        <a:ext cx="4107787" cy="11250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3460F-0C7D-4111-85EF-A780C8DD4BD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3400C-63F1-4D5F-B251-3853177A68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047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67D57-D457-4EAE-BF4F-2FDE0C552E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C648-9B19-5B72-C43A-E5E2C90BC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C7C77-4BD2-CCF6-9D36-40632B756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076A-8562-F597-9200-59E1406E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BBF45-DB31-38BE-9EA8-31B4BC40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AC1F5-C57D-CDB2-857E-16646791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20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2F5F-940A-DB5A-A74D-53AE6CD6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545" y="14955"/>
            <a:ext cx="10021455" cy="806749"/>
          </a:xfrm>
          <a:solidFill>
            <a:srgbClr val="194E91"/>
          </a:solidFill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16F32-8593-328C-BE6A-DC940AC69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45" y="997527"/>
            <a:ext cx="11748655" cy="51794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86355-5274-8737-4442-165030C1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400B6-5492-F6FE-3D79-4E143BB2D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5334E-A36D-928D-DC44-82D24BE8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WhatsApp Image 2024-08-23 at 15.43.17">
            <a:extLst>
              <a:ext uri="{FF2B5EF4-FFF2-40B4-BE49-F238E27FC236}">
                <a16:creationId xmlns:a16="http://schemas.microsoft.com/office/drawing/2014/main" id="{A2A2EDB9-93B3-0D9F-46B7-C147D799E4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3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B284-1950-C188-87C9-66535484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7EB9A-A9EB-9CB5-D587-636D46035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746B1-75D8-EBE4-583B-8EEF6E0CC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1E5EE-533C-8F1F-F0BA-E2FCC7A10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5E464-B782-9A88-C86A-E1A6D8164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29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2207-9668-7A41-376E-2F96636C8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52357-F42A-76E6-F33F-1B949D2F5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80EA8-26B3-B1E1-9C94-54D3AC26E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EC8DE-0741-7FA2-CFB7-E671A7F2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F8EFF-A608-FC07-F358-B9D18604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536F5-BE4C-9E8B-176F-821218E9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498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B991-A2B8-E597-687A-DD533F032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0D0E6-C801-0499-7452-CCB357C78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B3B35-4D9B-BBB2-7265-6AAF9F3BB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906F1-798E-BF15-2C16-8DBFA153D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FB452-274E-720B-4CC0-C6332DC2C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1A2BE-DF12-4672-2F61-BF26A9C61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2ED40-F13A-79EF-AC6D-520098CD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BE5AA-E2E8-6A12-C649-8F48560E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80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8D8F-9111-81FC-64D9-7F843A0F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7107B-D213-6C1C-8740-B5FF568BA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BFF51-A9B2-D3D7-C8E0-B0AD298EC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3EF63-F402-9F7B-F409-803F3877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186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85595E-9A6D-D4D5-6BCE-659045F2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9554B-CDF1-5E15-D4F9-C2DC5CF05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5E006-8FD2-ACB3-9224-CEB0E8671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890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B608-213B-3DE0-3F49-931EF6447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5A54-EE52-E35C-66F9-C6A29A112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478BF-DF20-E8EE-B57B-31201D7FB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0E903-CEE0-ABEB-44CE-7968182D9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C9E99-3BD2-6CD4-BC32-A79171DF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794FD-8186-C579-CD7F-2C34B3BA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49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63E3-B253-1A6D-D7E5-1A1C5BD2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011F0-EA15-1B8D-9215-FE5AA7CEE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9FEFF-BE4B-1246-B09F-131E5B12A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5471B-CC4D-9E68-CE64-E22F4BCB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0D20D-5010-113C-DFCF-432FAB00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5B7F1-5A5E-DCAE-682F-3114F5AF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886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65A0-BA35-295D-75E7-1D168F251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19088-B42F-4AFC-A7D6-9C61BAF3D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5ECBC-08E1-9E77-8284-E9B67185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9F067-9571-AF25-4EEC-1C68E97F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739DD-7DBE-021C-B520-91A78618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3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46191C-2E94-4FCD-EEAF-6724063A2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788B2-7D18-78C0-8509-C9714CF94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FC7FE-CE80-24E0-B639-117C354F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31881-0DD7-DC70-4CEE-7C2383A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6048C-F39A-620A-7C63-0A28E0C2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46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FE8ED5-A079-B493-46CC-FBCFFAE2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FD7BA-FED4-D7F5-0EA5-BA5A6CF71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EDD78-168C-D50A-A41B-63743ADE6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E0023-ED5E-43E7-AFB2-BC3351E8620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D965C-B904-F6E7-D3E3-AD1F3B66C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39F97-F367-6B19-FAF1-752B15C75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F9024-7982-42DF-837C-4110DDBEB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7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C027CC2F-7B4F-AA9B-4D81-E98F83DF2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42C3F97-7163-10DB-A067-B3F1568C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96FE-0C88-4477-8CA6-DFFA80F6EC4B}" type="datetime1">
              <a:rPr lang="en-US" smtClean="0"/>
              <a:t>1/5/2026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43A2CC-628E-6D6B-CB09-6DD9562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43BD2A-3656-4EFB-EE81-1532C7D1499D}"/>
              </a:ext>
            </a:extLst>
          </p:cNvPr>
          <p:cNvGrpSpPr/>
          <p:nvPr/>
        </p:nvGrpSpPr>
        <p:grpSpPr>
          <a:xfrm>
            <a:off x="2336800" y="131258"/>
            <a:ext cx="9745291" cy="680551"/>
            <a:chOff x="2336800" y="131258"/>
            <a:chExt cx="9745291" cy="680551"/>
          </a:xfrm>
          <a:solidFill>
            <a:srgbClr val="194E91"/>
          </a:solidFill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A3A666-1D60-C481-FA38-2B6816EEF98A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5B2BB8-BCBA-3DA1-A07C-DCC08FAF71AB}"/>
                </a:ext>
              </a:extLst>
            </p:cNvPr>
            <p:cNvSpPr txBox="1"/>
            <p:nvPr/>
          </p:nvSpPr>
          <p:spPr>
            <a:xfrm>
              <a:off x="2394530" y="131258"/>
              <a:ext cx="9687560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School of CS &amp; AI, SR University</a:t>
              </a:r>
              <a:endParaRPr lang="en-US" sz="3600" dirty="0"/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852DD20-2BA1-1097-A1A8-83E90344B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414672"/>
              </p:ext>
            </p:extLst>
          </p:nvPr>
        </p:nvGraphicFramePr>
        <p:xfrm>
          <a:off x="109910" y="1273306"/>
          <a:ext cx="594936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913">
                  <a:extLst>
                    <a:ext uri="{9D8B030D-6E8A-4147-A177-3AD203B41FA5}">
                      <a16:colId xmlns:a16="http://schemas.microsoft.com/office/drawing/2014/main" val="1381312057"/>
                    </a:ext>
                  </a:extLst>
                </a:gridCol>
                <a:gridCol w="2810437">
                  <a:extLst>
                    <a:ext uri="{9D8B030D-6E8A-4147-A177-3AD203B41FA5}">
                      <a16:colId xmlns:a16="http://schemas.microsoft.com/office/drawing/2014/main" val="242157776"/>
                    </a:ext>
                  </a:extLst>
                </a:gridCol>
                <a:gridCol w="260832">
                  <a:extLst>
                    <a:ext uri="{9D8B030D-6E8A-4147-A177-3AD203B41FA5}">
                      <a16:colId xmlns:a16="http://schemas.microsoft.com/office/drawing/2014/main" val="446022343"/>
                    </a:ext>
                  </a:extLst>
                </a:gridCol>
                <a:gridCol w="568000">
                  <a:extLst>
                    <a:ext uri="{9D8B030D-6E8A-4147-A177-3AD203B41FA5}">
                      <a16:colId xmlns:a16="http://schemas.microsoft.com/office/drawing/2014/main" val="30741803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65650034"/>
                    </a:ext>
                  </a:extLst>
                </a:gridCol>
                <a:gridCol w="529900">
                  <a:extLst>
                    <a:ext uri="{9D8B030D-6E8A-4147-A177-3AD203B41FA5}">
                      <a16:colId xmlns:a16="http://schemas.microsoft.com/office/drawing/2014/main" val="4236025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82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4F8F"/>
                          </a:solidFill>
                        </a:rPr>
                        <a:t>24CS301ES205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64F8F"/>
                          </a:solidFill>
                        </a:rPr>
                        <a:t>CYBER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47256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164F8F"/>
                          </a:solidFill>
                        </a:rPr>
                        <a:t>Program 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0780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9565CE-F940-4E40-840E-05DAAD5EF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006871"/>
              </p:ext>
            </p:extLst>
          </p:nvPr>
        </p:nvGraphicFramePr>
        <p:xfrm>
          <a:off x="6130213" y="1273306"/>
          <a:ext cx="3075742" cy="5844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75742">
                  <a:extLst>
                    <a:ext uri="{9D8B030D-6E8A-4147-A177-3AD203B41FA5}">
                      <a16:colId xmlns:a16="http://schemas.microsoft.com/office/drawing/2014/main" val="2443765172"/>
                    </a:ext>
                  </a:extLst>
                </a:gridCol>
              </a:tblGrid>
              <a:tr h="3849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Lab Experiments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4E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255752"/>
                  </a:ext>
                </a:extLst>
              </a:tr>
              <a:tr h="5016741"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100" b="1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IN" sz="1600" b="1" dirty="0">
                          <a:highlight>
                            <a:srgbClr val="FFFF00"/>
                          </a:highlight>
                        </a:rPr>
                        <a:t>Web Reconnaissance</a:t>
                      </a:r>
                      <a:endParaRPr lang="en-IN" sz="1600" dirty="0">
                        <a:highlight>
                          <a:srgbClr val="FFFF00"/>
                        </a:highlight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Password Security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Cryptography Implementation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Network Vulnerability Assessment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Packet Analysis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Firewall and IDS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Web Application Security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Wireless Security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Malware Analysis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Digital Forensics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Incident Response</a:t>
                      </a:r>
                      <a:endParaRPr lang="en-IN" sz="1600" dirty="0"/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IN" sz="1600" b="1" dirty="0"/>
                        <a:t>Cloud Security</a:t>
                      </a:r>
                      <a:endParaRPr lang="en-IN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59202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174C43-2445-5A44-DE5A-BF274237C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178427"/>
              </p:ext>
            </p:extLst>
          </p:nvPr>
        </p:nvGraphicFramePr>
        <p:xfrm>
          <a:off x="9205955" y="1275647"/>
          <a:ext cx="2876135" cy="5340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6135">
                  <a:extLst>
                    <a:ext uri="{9D8B030D-6E8A-4147-A177-3AD203B41FA5}">
                      <a16:colId xmlns:a16="http://schemas.microsoft.com/office/drawing/2014/main" val="1059976695"/>
                    </a:ext>
                  </a:extLst>
                </a:gridCol>
              </a:tblGrid>
              <a:tr h="3385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Lab- 1 (week 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4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758912"/>
                  </a:ext>
                </a:extLst>
              </a:tr>
              <a:tr h="17455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2800" dirty="0"/>
                        <a:t>Website Reconnaissance and OSINT</a:t>
                      </a:r>
                      <a:endParaRPr lang="en-US" sz="28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7406387"/>
                  </a:ext>
                </a:extLst>
              </a:tr>
              <a:tr h="317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0850909"/>
                  </a:ext>
                </a:extLst>
              </a:tr>
              <a:tr h="317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74249"/>
                  </a:ext>
                </a:extLst>
              </a:tr>
              <a:tr h="317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9777176"/>
                  </a:ext>
                </a:extLst>
              </a:tr>
              <a:tr h="4995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0986810"/>
                  </a:ext>
                </a:extLst>
              </a:tr>
              <a:tr h="9277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rgbClr val="164F8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2172010"/>
                  </a:ext>
                </a:extLst>
              </a:tr>
              <a:tr h="4995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rgbClr val="164F8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64681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7F4C0C-7564-5ACA-823B-45E56143A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848542"/>
              </p:ext>
            </p:extLst>
          </p:nvPr>
        </p:nvGraphicFramePr>
        <p:xfrm>
          <a:off x="150660" y="4102862"/>
          <a:ext cx="5923736" cy="225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6749">
                  <a:extLst>
                    <a:ext uri="{9D8B030D-6E8A-4147-A177-3AD203B41FA5}">
                      <a16:colId xmlns:a16="http://schemas.microsoft.com/office/drawing/2014/main" val="3586554256"/>
                    </a:ext>
                  </a:extLst>
                </a:gridCol>
                <a:gridCol w="2906987">
                  <a:extLst>
                    <a:ext uri="{9D8B030D-6E8A-4147-A177-3AD203B41FA5}">
                      <a16:colId xmlns:a16="http://schemas.microsoft.com/office/drawing/2014/main" val="1277815266"/>
                    </a:ext>
                  </a:extLst>
                </a:gridCol>
              </a:tblGrid>
              <a:tr h="166885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Course Faculties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E9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576184"/>
                  </a:ext>
                </a:extLst>
              </a:tr>
              <a:tr h="16259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Dr. Vivek Kumar </a:t>
                      </a:r>
                      <a:r>
                        <a:rPr lang="en-IN" sz="1800" b="1" kern="0" dirty="0" err="1">
                          <a:solidFill>
                            <a:srgbClr val="164F8F"/>
                          </a:solidFill>
                          <a:effectLst/>
                        </a:rPr>
                        <a:t>Dhimole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Dr. K Rajchandar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Dr. Shanker Chandre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800" b="1" kern="0" dirty="0">
                          <a:solidFill>
                            <a:srgbClr val="164F8F"/>
                          </a:solidFill>
                          <a:effectLst/>
                        </a:rPr>
                        <a:t>Ms. Faiza Iram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800" b="1" kern="0" dirty="0">
                          <a:solidFill>
                            <a:srgbClr val="164F8F"/>
                          </a:solidFill>
                          <a:effectLst/>
                        </a:rPr>
                        <a:t>Dr. Santosh Kumar Henge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Dr. T Bharath Kumar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Dr. Sudarshan Behara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Jacky Patel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 err="1">
                          <a:solidFill>
                            <a:srgbClr val="164F8F"/>
                          </a:solidFill>
                          <a:effectLst/>
                        </a:rPr>
                        <a:t>Aslaan</a:t>
                      </a: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 Khan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Uday Kiran Bade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Kundan Kumar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rgbClr val="164F8F"/>
                          </a:solidFill>
                          <a:effectLst/>
                        </a:rPr>
                        <a:t>Md Faizan</a:t>
                      </a:r>
                      <a:endParaRPr lang="en-IN" sz="1800" b="1" kern="100" dirty="0">
                        <a:solidFill>
                          <a:srgbClr val="164F8F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3038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3A3CC6D-DB1A-A77A-F6D5-7612AD37ECCF}"/>
              </a:ext>
            </a:extLst>
          </p:cNvPr>
          <p:cNvSpPr txBox="1"/>
          <p:nvPr/>
        </p:nvSpPr>
        <p:spPr>
          <a:xfrm>
            <a:off x="109909" y="2658047"/>
            <a:ext cx="5923736" cy="10156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64F8F"/>
                </a:solidFill>
              </a:rPr>
              <a:t>Lab1: Reconnaissance on a target website using tools like Nmap, </a:t>
            </a:r>
            <a:r>
              <a:rPr lang="en-US" sz="2000" b="1" dirty="0" err="1">
                <a:solidFill>
                  <a:srgbClr val="164F8F"/>
                </a:solidFill>
              </a:rPr>
              <a:t>Whois</a:t>
            </a:r>
            <a:r>
              <a:rPr lang="en-US" sz="2000" b="1" dirty="0">
                <a:solidFill>
                  <a:srgbClr val="164F8F"/>
                </a:solidFill>
              </a:rPr>
              <a:t>, and Google Dorks to gather open-source intelligence</a:t>
            </a:r>
            <a:endParaRPr lang="en-US" sz="1600" b="1" dirty="0">
              <a:solidFill>
                <a:srgbClr val="16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6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9FF3-68E3-4EBF-C690-635C7E492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9B30-D243-433B-4CE1-98A2D4FDB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The objectives of this lab are to: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i="1" dirty="0"/>
              <a:t>Understand the concept of reconnaissance and OSINT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i="1" dirty="0"/>
              <a:t>Perform website reconnaissance using ethical tools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i="1" dirty="0"/>
              <a:t>Identify open ports, services, and domain details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i="1" dirty="0"/>
              <a:t>Analyze publicly available information responsibly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i="1" dirty="0"/>
              <a:t>Document findings in a structured manner</a:t>
            </a:r>
          </a:p>
        </p:txBody>
      </p:sp>
    </p:spTree>
    <p:extLst>
      <p:ext uri="{BB962C8B-B14F-4D97-AF65-F5344CB8AC3E}">
        <p14:creationId xmlns:p14="http://schemas.microsoft.com/office/powerpoint/2010/main" val="777979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6BC54-613C-E26E-8A5D-AD846D05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816C7-5E30-43CB-C253-6759B06E0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635" y="1194172"/>
            <a:ext cx="11748655" cy="517943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3600" dirty="0"/>
              <a:t>After completing this lab, students will be able to: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/>
              <a:t>Explain reconnaissance and OSINT concepts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/>
              <a:t>Use Nmap for basic website scanning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/>
              <a:t>Perform </a:t>
            </a:r>
            <a:r>
              <a:rPr lang="en-US" sz="3600" dirty="0" err="1"/>
              <a:t>Whois</a:t>
            </a:r>
            <a:r>
              <a:rPr lang="en-US" sz="3600" dirty="0"/>
              <a:t> lookups for domain information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/>
              <a:t>Use Google Dorks to gather public intelligence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/>
              <a:t>Identify potential attack surfaces ethically</a:t>
            </a:r>
          </a:p>
        </p:txBody>
      </p:sp>
    </p:spTree>
    <p:extLst>
      <p:ext uri="{BB962C8B-B14F-4D97-AF65-F5344CB8AC3E}">
        <p14:creationId xmlns:p14="http://schemas.microsoft.com/office/powerpoint/2010/main" val="62956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6D63-8FE9-CA43-A5BC-0C35E36B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Reconnaissance?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70D8C-E891-852D-6FEB-2EBBA462B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45" y="997527"/>
            <a:ext cx="6730926" cy="573757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Reconnaissance</a:t>
            </a:r>
            <a:r>
              <a:rPr lang="en-US" dirty="0"/>
              <a:t> is the first phase of cyber security assessment where information about a target system or website is collected </a:t>
            </a:r>
            <a:r>
              <a:rPr lang="en-US" b="1" dirty="0"/>
              <a:t>without actively exploiting it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focuses on </a:t>
            </a:r>
            <a:r>
              <a:rPr lang="en-US" b="1" dirty="0"/>
              <a:t>information gathering</a:t>
            </a:r>
            <a:endParaRPr lang="en-US" dirty="0"/>
          </a:p>
          <a:p>
            <a:pPr lvl="1"/>
            <a:r>
              <a:rPr lang="en-US" dirty="0"/>
              <a:t>Uses publicly available data (Open-Source Intelligence – OSINT)</a:t>
            </a:r>
          </a:p>
          <a:p>
            <a:pPr lvl="1"/>
            <a:r>
              <a:rPr lang="en-US" dirty="0"/>
              <a:t>Helps understand the </a:t>
            </a:r>
            <a:r>
              <a:rPr lang="en-US" b="1" dirty="0"/>
              <a:t>attack surface</a:t>
            </a:r>
            <a:r>
              <a:rPr lang="en-US" dirty="0"/>
              <a:t> of a website</a:t>
            </a:r>
          </a:p>
          <a:p>
            <a:r>
              <a:rPr lang="en-US" b="1" dirty="0"/>
              <a:t>Key idea:</a:t>
            </a:r>
            <a:endParaRPr lang="en-US" dirty="0"/>
          </a:p>
          <a:p>
            <a:pPr algn="ctr"/>
            <a:r>
              <a:rPr lang="en-US" sz="3200" i="1" dirty="0">
                <a:solidFill>
                  <a:srgbClr val="FFFF00"/>
                </a:solidFill>
                <a:highlight>
                  <a:srgbClr val="FF0000"/>
                </a:highlight>
              </a:rPr>
              <a:t>“Know the target before securing or attacking it.”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F4AE6-30F0-DA0A-C27B-937F1BF839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926" b="20000"/>
          <a:stretch>
            <a:fillRect/>
          </a:stretch>
        </p:blipFill>
        <p:spPr>
          <a:xfrm>
            <a:off x="7081103" y="1718350"/>
            <a:ext cx="4974495" cy="401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1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32AA-2514-AB30-FB5E-45FC3719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Reconnaissance is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540B9-6F46-01C6-09DC-69F9DEAE6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Reconnaissance is used to: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i="1" dirty="0"/>
              <a:t>Identify exposed services and technologies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i="1" dirty="0"/>
              <a:t>Discover domain and server details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i="1" dirty="0"/>
              <a:t>Understand possible entry points for attacks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i="1" dirty="0"/>
              <a:t>Support security audits and penetration testing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i="1" dirty="0"/>
              <a:t>Improve defensive security planning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i="1" dirty="0"/>
              <a:t>Without reconnaissance, security assessments are incomplete.</a:t>
            </a:r>
            <a:endParaRPr lang="en-US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575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0DDA7-9F98-1744-D777-F1085C384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Reconnaissance is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44B23-57D1-C0B5-0207-83C35FF6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Reconnaissance is widely used in:</a:t>
            </a:r>
          </a:p>
          <a:p>
            <a:r>
              <a:rPr lang="en-US" dirty="0"/>
              <a:t>Penetration testing</a:t>
            </a:r>
          </a:p>
          <a:p>
            <a:r>
              <a:rPr lang="en-US" dirty="0"/>
              <a:t>Vulnerability assessment</a:t>
            </a:r>
          </a:p>
          <a:p>
            <a:r>
              <a:rPr lang="en-US" dirty="0"/>
              <a:t>Red team and blue team exercises</a:t>
            </a:r>
          </a:p>
          <a:p>
            <a:r>
              <a:rPr lang="en-US" dirty="0"/>
              <a:t>Bug bounty programs</a:t>
            </a:r>
          </a:p>
          <a:p>
            <a:r>
              <a:rPr lang="en-US" dirty="0"/>
              <a:t>Incident investigation</a:t>
            </a:r>
          </a:p>
          <a:p>
            <a:r>
              <a:rPr lang="en-US" dirty="0"/>
              <a:t>Cyber forensics and audits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BA55E8-FC9C-04CB-F5BE-ADDEDB4BA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440" y="982336"/>
            <a:ext cx="6126480" cy="487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9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777A-7E28-62D0-BE43-1092C921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545" y="14955"/>
            <a:ext cx="10021455" cy="806749"/>
          </a:xfrm>
        </p:spPr>
        <p:txBody>
          <a:bodyPr anchor="ctr">
            <a:normAutofit/>
          </a:bodyPr>
          <a:lstStyle/>
          <a:p>
            <a:r>
              <a:rPr lang="en-US" dirty="0"/>
              <a:t>Tools Used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8B9AD2-915E-34D9-5C57-38E2393EEA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682463"/>
              </p:ext>
            </p:extLst>
          </p:nvPr>
        </p:nvGraphicFramePr>
        <p:xfrm>
          <a:off x="240145" y="997527"/>
          <a:ext cx="11748655" cy="5179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4963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A3AE-F5B3-C97D-7A83-AAB703E1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Ethical Guidelines (Important)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BAE1C-0DEE-9FA8-C62B-869A13D1C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reconnaissance </a:t>
            </a:r>
            <a:r>
              <a:rPr lang="en-US" b="1" dirty="0"/>
              <a:t>only on permitted targets</a:t>
            </a:r>
            <a:endParaRPr lang="en-US" dirty="0"/>
          </a:p>
          <a:p>
            <a:r>
              <a:rPr lang="en-US" dirty="0"/>
              <a:t>Use:</a:t>
            </a:r>
          </a:p>
          <a:p>
            <a:pPr lvl="1"/>
            <a:r>
              <a:rPr lang="en-US" dirty="0"/>
              <a:t>localhost</a:t>
            </a:r>
          </a:p>
          <a:p>
            <a:pPr lvl="1"/>
            <a:r>
              <a:rPr lang="en-US" dirty="0"/>
              <a:t>Lab servers</a:t>
            </a:r>
          </a:p>
          <a:p>
            <a:pPr lvl="1"/>
            <a:r>
              <a:rPr lang="en-US" dirty="0"/>
              <a:t>Instructor-approved websites</a:t>
            </a:r>
          </a:p>
          <a:p>
            <a:r>
              <a:rPr lang="en-US" dirty="0"/>
              <a:t>Do </a:t>
            </a:r>
            <a:r>
              <a:rPr lang="en-US" b="1" dirty="0"/>
              <a:t>not</a:t>
            </a:r>
            <a:r>
              <a:rPr lang="en-US" dirty="0"/>
              <a:t> exploit or damage systems</a:t>
            </a:r>
          </a:p>
          <a:p>
            <a:r>
              <a:rPr lang="en-US" dirty="0"/>
              <a:t>Follow ethical hacking principles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104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0030-4A5F-C7BE-4880-1823C1AF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 1 – Install “</a:t>
            </a:r>
            <a:r>
              <a:rPr lang="en-IN" dirty="0" err="1"/>
              <a:t>nmap</a:t>
            </a:r>
            <a:r>
              <a:rPr lang="en-IN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953FF-8D34-DB6C-8757-6D7F10D7F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Choose a target website:</a:t>
            </a:r>
          </a:p>
          <a:p>
            <a:r>
              <a:rPr lang="en-IN" dirty="0"/>
              <a:t>Example:</a:t>
            </a:r>
          </a:p>
          <a:p>
            <a:pPr lvl="1"/>
            <a:r>
              <a:rPr lang="en-IN" dirty="0"/>
              <a:t>example.com</a:t>
            </a:r>
          </a:p>
          <a:p>
            <a:pPr lvl="1"/>
            <a:r>
              <a:rPr lang="en-IN" dirty="0"/>
              <a:t>scanme.nmap.org</a:t>
            </a:r>
          </a:p>
          <a:p>
            <a:pPr lvl="1"/>
            <a:r>
              <a:rPr lang="en-IN" dirty="0"/>
              <a:t>Instructor-approved site</a:t>
            </a:r>
          </a:p>
          <a:p>
            <a:r>
              <a:rPr lang="en-IN" dirty="0"/>
              <a:t>Record:</a:t>
            </a:r>
          </a:p>
          <a:p>
            <a:r>
              <a:rPr lang="en-IN" dirty="0"/>
              <a:t>Website URL</a:t>
            </a:r>
          </a:p>
          <a:p>
            <a:r>
              <a:rPr lang="en-IN" dirty="0"/>
              <a:t>IP address (if known)</a:t>
            </a:r>
          </a:p>
          <a:p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376545-6080-944F-A8A0-7E373BAF1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048" y="1249680"/>
            <a:ext cx="7497768" cy="407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8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A065-1C76-8CD2-8F7D-AE50539E3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 2 – Reconnaissance using Nmap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8B2EB-AF15-330C-DB2B-625932863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Use Nmap to identify open ports and services.</a:t>
            </a:r>
          </a:p>
          <a:p>
            <a:r>
              <a:rPr lang="en-IN" b="1" dirty="0"/>
              <a:t>Command:</a:t>
            </a:r>
            <a:endParaRPr lang="en-IN" dirty="0"/>
          </a:p>
          <a:p>
            <a:pPr lvl="1"/>
            <a:r>
              <a:rPr lang="en-IN" dirty="0" err="1"/>
              <a:t>nmap</a:t>
            </a:r>
            <a:r>
              <a:rPr lang="en-IN" dirty="0"/>
              <a:t> -A </a:t>
            </a:r>
            <a:r>
              <a:rPr lang="en-IN" dirty="0" err="1"/>
              <a:t>target_website</a:t>
            </a:r>
            <a:endParaRPr lang="en-IN" dirty="0"/>
          </a:p>
          <a:p>
            <a:r>
              <a:rPr lang="en-IN" b="1" dirty="0"/>
              <a:t>What Nmap provides:</a:t>
            </a:r>
            <a:endParaRPr lang="en-IN" dirty="0"/>
          </a:p>
          <a:p>
            <a:pPr lvl="1"/>
            <a:r>
              <a:rPr lang="en-IN" dirty="0"/>
              <a:t>Open ports</a:t>
            </a:r>
          </a:p>
          <a:p>
            <a:pPr lvl="1"/>
            <a:r>
              <a:rPr lang="en-IN" dirty="0"/>
              <a:t>Running services</a:t>
            </a:r>
          </a:p>
          <a:p>
            <a:pPr lvl="1"/>
            <a:r>
              <a:rPr lang="en-IN" dirty="0"/>
              <a:t>Service versions</a:t>
            </a:r>
          </a:p>
          <a:p>
            <a:pPr lvl="1"/>
            <a:r>
              <a:rPr lang="en-IN" dirty="0"/>
              <a:t>OS information (if detectable)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AA389-FAFE-5398-B06B-AE464872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2"/>
          <a:stretch>
            <a:fillRect/>
          </a:stretch>
        </p:blipFill>
        <p:spPr>
          <a:xfrm>
            <a:off x="5473312" y="1524983"/>
            <a:ext cx="6231008" cy="473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15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1DC4-9CB5-70F9-2888-D9F09F7D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 Ports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2027E-3087-67C4-5264-B40709729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Discovered open port 80/</a:t>
            </a:r>
            <a:r>
              <a:rPr lang="en-IN" dirty="0" err="1"/>
              <a:t>tcp</a:t>
            </a:r>
            <a:endParaRPr lang="en-IN" dirty="0"/>
          </a:p>
          <a:p>
            <a:r>
              <a:rPr lang="en-IN" dirty="0"/>
              <a:t>Discovered open port 443/</a:t>
            </a:r>
            <a:r>
              <a:rPr lang="en-IN" dirty="0" err="1"/>
              <a:t>tcp</a:t>
            </a:r>
            <a:endParaRPr lang="en-IN" dirty="0"/>
          </a:p>
          <a:p>
            <a:r>
              <a:rPr lang="en-IN" dirty="0"/>
              <a:t>Discovered open port 8080/</a:t>
            </a:r>
            <a:r>
              <a:rPr lang="en-IN" dirty="0" err="1"/>
              <a:t>tcp</a:t>
            </a:r>
            <a:endParaRPr lang="en-IN" dirty="0"/>
          </a:p>
          <a:p>
            <a:r>
              <a:rPr lang="en-IN" dirty="0"/>
              <a:t>Discovered open port 2000/</a:t>
            </a:r>
            <a:r>
              <a:rPr lang="en-IN" dirty="0" err="1"/>
              <a:t>tcp</a:t>
            </a:r>
            <a:endParaRPr lang="en-IN" dirty="0"/>
          </a:p>
          <a:p>
            <a:r>
              <a:rPr lang="en-IN" dirty="0"/>
              <a:t>Discovered open port 5060/</a:t>
            </a:r>
            <a:r>
              <a:rPr lang="en-IN" dirty="0" err="1"/>
              <a:t>tcp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AF4926-F48D-89C2-63C1-57BDDD281B07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3626584"/>
          <a:ext cx="10852356" cy="300036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3617452">
                  <a:extLst>
                    <a:ext uri="{9D8B030D-6E8A-4147-A177-3AD203B41FA5}">
                      <a16:colId xmlns:a16="http://schemas.microsoft.com/office/drawing/2014/main" val="4171621267"/>
                    </a:ext>
                  </a:extLst>
                </a:gridCol>
                <a:gridCol w="3617452">
                  <a:extLst>
                    <a:ext uri="{9D8B030D-6E8A-4147-A177-3AD203B41FA5}">
                      <a16:colId xmlns:a16="http://schemas.microsoft.com/office/drawing/2014/main" val="2622122970"/>
                    </a:ext>
                  </a:extLst>
                </a:gridCol>
                <a:gridCol w="3617452">
                  <a:extLst>
                    <a:ext uri="{9D8B030D-6E8A-4147-A177-3AD203B41FA5}">
                      <a16:colId xmlns:a16="http://schemas.microsoft.com/office/drawing/2014/main" val="1258183630"/>
                    </a:ext>
                  </a:extLst>
                </a:gridCol>
              </a:tblGrid>
              <a:tr h="50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Port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Why Open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75622"/>
                  </a:ext>
                </a:extLst>
              </a:tr>
              <a:tr h="50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80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HTTP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Website access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95310"/>
                  </a:ext>
                </a:extLst>
              </a:tr>
              <a:tr h="50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443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HTTPS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Secure web traffic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449445"/>
                  </a:ext>
                </a:extLst>
              </a:tr>
              <a:tr h="50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8080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Alternate HTTP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Load balancing / proxy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974721"/>
                  </a:ext>
                </a:extLst>
              </a:tr>
              <a:tr h="50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2000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Custom service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Internal Google service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278059"/>
                  </a:ext>
                </a:extLst>
              </a:tr>
              <a:tr h="500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5060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SIP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Communication service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8298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6D0BBE3-78D0-8B23-8AF0-39AE485F7AF8}"/>
              </a:ext>
            </a:extLst>
          </p:cNvPr>
          <p:cNvSpPr txBox="1"/>
          <p:nvPr/>
        </p:nvSpPr>
        <p:spPr>
          <a:xfrm>
            <a:off x="5770880" y="184363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/>
              <a:t>Open ports are not vulnerabilities; </a:t>
            </a:r>
          </a:p>
          <a:p>
            <a:pPr algn="ctr"/>
            <a:r>
              <a:rPr lang="en-US" sz="2000" b="1" i="1" dirty="0"/>
              <a:t>unnecessary open ports are.</a:t>
            </a:r>
            <a:endParaRPr lang="en-IN" sz="2000" b="1" i="1" dirty="0"/>
          </a:p>
        </p:txBody>
      </p:sp>
    </p:spTree>
    <p:extLst>
      <p:ext uri="{BB962C8B-B14F-4D97-AF65-F5344CB8AC3E}">
        <p14:creationId xmlns:p14="http://schemas.microsoft.com/office/powerpoint/2010/main" val="4222935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88C0-E464-E932-BE2F-2EB257AC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Why Google has many open ports (critical concept)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B656D-5922-926D-4814-218B93937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is a </a:t>
            </a:r>
            <a:r>
              <a:rPr lang="en-US" b="1" dirty="0"/>
              <a:t>global infrastructure</a:t>
            </a:r>
            <a:endParaRPr lang="en-US" dirty="0"/>
          </a:p>
          <a:p>
            <a:r>
              <a:rPr lang="en-US" dirty="0"/>
              <a:t>Uses:</a:t>
            </a:r>
          </a:p>
          <a:p>
            <a:pPr lvl="1"/>
            <a:r>
              <a:rPr lang="en-US" dirty="0"/>
              <a:t>Load balancers</a:t>
            </a:r>
          </a:p>
          <a:p>
            <a:pPr lvl="1"/>
            <a:r>
              <a:rPr lang="en-US" dirty="0"/>
              <a:t>Proxies</a:t>
            </a:r>
          </a:p>
          <a:p>
            <a:pPr lvl="1"/>
            <a:r>
              <a:rPr lang="en-US" dirty="0"/>
              <a:t>Distributed services</a:t>
            </a:r>
          </a:p>
          <a:p>
            <a:r>
              <a:rPr lang="en-US" dirty="0"/>
              <a:t>Open ports are </a:t>
            </a:r>
            <a:r>
              <a:rPr lang="en-US" b="1" dirty="0"/>
              <a:t>intentional and controlled</a:t>
            </a:r>
          </a:p>
          <a:p>
            <a:endParaRPr lang="en-US" dirty="0"/>
          </a:p>
          <a:p>
            <a:r>
              <a:rPr lang="en-US" dirty="0"/>
              <a:t>👉 “</a:t>
            </a:r>
            <a:r>
              <a:rPr lang="en-US" dirty="0">
                <a:highlight>
                  <a:srgbClr val="FFFF00"/>
                </a:highlight>
              </a:rPr>
              <a:t>Seeing open ports on Google does NOT mean Google is insecure.”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622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1503-25AB-5989-5A36-9B44206C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What NOT to do (VERY IMPORTANT FOR ETHICS)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9BFC4-C419-3BFC-0C34-FF721682A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❌ Do not try vulnerabilities</a:t>
            </a:r>
          </a:p>
          <a:p>
            <a:r>
              <a:rPr lang="en-US" dirty="0"/>
              <a:t>❌ Do not brute force</a:t>
            </a:r>
          </a:p>
          <a:p>
            <a:r>
              <a:rPr lang="en-US" dirty="0"/>
              <a:t>❌ Do not exploit services</a:t>
            </a:r>
          </a:p>
          <a:p>
            <a:r>
              <a:rPr lang="en-US" dirty="0"/>
              <a:t>👉 This lab is </a:t>
            </a:r>
            <a:r>
              <a:rPr lang="en-US" b="1" dirty="0"/>
              <a:t>reconnaissance only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8652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9F42-3F8A-7611-D376-AF16BDA9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 3 – Analyze Nmap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2B3A7-D098-9D1E-F937-DC90101BA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From Nmap output, identify:</a:t>
            </a:r>
          </a:p>
          <a:p>
            <a:pPr lvl="1"/>
            <a:r>
              <a:rPr lang="en-IN" dirty="0"/>
              <a:t>Open ports (e.g., 80, 443)</a:t>
            </a:r>
          </a:p>
          <a:p>
            <a:pPr lvl="1"/>
            <a:r>
              <a:rPr lang="en-IN" dirty="0"/>
              <a:t>Services (HTTP, HTTPS, SSH, etc.)</a:t>
            </a:r>
          </a:p>
          <a:p>
            <a:pPr lvl="1"/>
            <a:r>
              <a:rPr lang="en-IN" dirty="0"/>
              <a:t>Service versions</a:t>
            </a:r>
          </a:p>
          <a:p>
            <a:pPr lvl="1"/>
            <a:r>
              <a:rPr lang="en-IN" dirty="0"/>
              <a:t>Possible exposure points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BD0B84-200D-E921-9F08-AD1870433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464392"/>
              </p:ext>
            </p:extLst>
          </p:nvPr>
        </p:nvGraphicFramePr>
        <p:xfrm>
          <a:off x="838200" y="3818414"/>
          <a:ext cx="10515600" cy="7315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395955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321386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166192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4288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Protocol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4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38359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347F12C-E76D-309A-0406-4078DC5D3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09" y="2967335"/>
            <a:ext cx="255711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a simple table: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667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7974-5883-32ED-D662-6D6DF01E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4 – </a:t>
            </a:r>
            <a:r>
              <a:rPr lang="en-US" dirty="0" err="1"/>
              <a:t>Whois</a:t>
            </a:r>
            <a:r>
              <a:rPr lang="en-US" dirty="0"/>
              <a:t> Lookup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3BFA-14AE-43D9-9792-366E22E2D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</a:t>
            </a:r>
            <a:r>
              <a:rPr lang="en-US" dirty="0" err="1"/>
              <a:t>Whois</a:t>
            </a:r>
            <a:r>
              <a:rPr lang="en-US" dirty="0"/>
              <a:t> lookup to gather domain information.</a:t>
            </a:r>
          </a:p>
          <a:p>
            <a:r>
              <a:rPr lang="en-US" b="1" dirty="0"/>
              <a:t>Command:</a:t>
            </a:r>
            <a:endParaRPr lang="en-US" dirty="0"/>
          </a:p>
          <a:p>
            <a:pPr lvl="1"/>
            <a:r>
              <a:rPr lang="en-US" dirty="0" err="1"/>
              <a:t>whois</a:t>
            </a:r>
            <a:r>
              <a:rPr lang="en-US" dirty="0"/>
              <a:t> </a:t>
            </a:r>
            <a:r>
              <a:rPr lang="en-US" dirty="0" err="1"/>
              <a:t>target_website</a:t>
            </a:r>
            <a:endParaRPr lang="en-US" dirty="0"/>
          </a:p>
          <a:p>
            <a:r>
              <a:rPr lang="en-US" b="1" dirty="0"/>
              <a:t>Information obtained:</a:t>
            </a:r>
            <a:endParaRPr lang="en-US" dirty="0"/>
          </a:p>
          <a:p>
            <a:pPr lvl="1"/>
            <a:r>
              <a:rPr lang="en-US" dirty="0"/>
              <a:t>Domain registrar</a:t>
            </a:r>
          </a:p>
          <a:p>
            <a:pPr lvl="1"/>
            <a:r>
              <a:rPr lang="en-US" dirty="0"/>
              <a:t>Registration date</a:t>
            </a:r>
          </a:p>
          <a:p>
            <a:pPr lvl="1"/>
            <a:r>
              <a:rPr lang="en-US" dirty="0"/>
              <a:t>Expiry date</a:t>
            </a:r>
          </a:p>
          <a:p>
            <a:pPr lvl="1"/>
            <a:r>
              <a:rPr lang="en-US" dirty="0"/>
              <a:t>Name servers</a:t>
            </a:r>
          </a:p>
          <a:p>
            <a:pPr lvl="1"/>
            <a:r>
              <a:rPr lang="en-US" dirty="0"/>
              <a:t>Organization details (if public)</a:t>
            </a:r>
          </a:p>
          <a:p>
            <a:endParaRPr lang="en-IN" dirty="0"/>
          </a:p>
        </p:txBody>
      </p:sp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6EA20074-D534-AE19-6DAB-BB80F1AE2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934" y="1682245"/>
            <a:ext cx="632104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487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0A9A-724F-68B7-22C9-085E0460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WHOIS output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44D474-7D74-F9B0-4073-DCD493724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259844"/>
              </p:ext>
            </p:extLst>
          </p:nvPr>
        </p:nvGraphicFramePr>
        <p:xfrm>
          <a:off x="1121926" y="1545780"/>
          <a:ext cx="10515600" cy="310896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792962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33046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457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Domain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Which website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96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Registrar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Who registered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784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Creation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How old the domain 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218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Expiry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Validity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89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Name Servers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DNS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19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744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4374-F21D-06A4-49F0-A78DAD0B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0545" y="14955"/>
            <a:ext cx="10021455" cy="806749"/>
          </a:xfrm>
        </p:spPr>
        <p:txBody>
          <a:bodyPr anchor="ctr">
            <a:normAutofit/>
          </a:bodyPr>
          <a:lstStyle/>
          <a:p>
            <a:r>
              <a:rPr lang="en-US" dirty="0"/>
              <a:t>Try: </a:t>
            </a:r>
            <a:r>
              <a:rPr lang="en-US" dirty="0" err="1"/>
              <a:t>Whois</a:t>
            </a:r>
            <a:r>
              <a:rPr lang="en-US" dirty="0"/>
              <a:t>-&gt; www.flipkart.com</a:t>
            </a:r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DE570D-367F-8738-923F-2F3397DEB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21" r="1" b="34395"/>
          <a:stretch>
            <a:fillRect/>
          </a:stretch>
        </p:blipFill>
        <p:spPr>
          <a:xfrm>
            <a:off x="240145" y="997527"/>
            <a:ext cx="11748655" cy="51794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4352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B0AEE-563D-679A-004F-EB6754193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Google Dorks for OSINT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62B9-34ED-7292-7090-6725197CF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Google Dorks for OSINT</a:t>
            </a:r>
          </a:p>
          <a:p>
            <a:r>
              <a:rPr lang="en-IN" dirty="0"/>
              <a:t>Use Google advanced search queries to find exposed information.</a:t>
            </a:r>
          </a:p>
          <a:p>
            <a:r>
              <a:rPr lang="en-IN" b="1" dirty="0"/>
              <a:t>Examples:</a:t>
            </a:r>
            <a:endParaRPr lang="en-IN" dirty="0"/>
          </a:p>
          <a:p>
            <a:pPr lvl="1"/>
            <a:r>
              <a:rPr lang="en-IN" dirty="0" err="1"/>
              <a:t>site:target_website</a:t>
            </a:r>
            <a:endParaRPr lang="en-IN" dirty="0"/>
          </a:p>
          <a:p>
            <a:pPr lvl="1"/>
            <a:r>
              <a:rPr lang="en-IN" dirty="0" err="1"/>
              <a:t>site:target_website</a:t>
            </a:r>
            <a:r>
              <a:rPr lang="en-IN" dirty="0"/>
              <a:t> </a:t>
            </a:r>
            <a:r>
              <a:rPr lang="en-IN" dirty="0" err="1"/>
              <a:t>filetype:pdf</a:t>
            </a:r>
            <a:endParaRPr lang="en-IN" dirty="0"/>
          </a:p>
          <a:p>
            <a:pPr lvl="1"/>
            <a:r>
              <a:rPr lang="en-IN" dirty="0" err="1"/>
              <a:t>site:target_website</a:t>
            </a:r>
            <a:r>
              <a:rPr lang="en-IN" dirty="0"/>
              <a:t> </a:t>
            </a:r>
            <a:r>
              <a:rPr lang="en-IN" dirty="0" err="1"/>
              <a:t>intitle:index.of</a:t>
            </a:r>
            <a:endParaRPr lang="en-IN" dirty="0"/>
          </a:p>
          <a:p>
            <a:r>
              <a:rPr lang="en-IN" b="1" dirty="0"/>
              <a:t>Google Dorks can reveal:</a:t>
            </a:r>
            <a:endParaRPr lang="en-IN" dirty="0"/>
          </a:p>
          <a:p>
            <a:pPr lvl="1"/>
            <a:r>
              <a:rPr lang="en-IN" dirty="0"/>
              <a:t>Public documents</a:t>
            </a:r>
          </a:p>
          <a:p>
            <a:pPr lvl="1"/>
            <a:r>
              <a:rPr lang="en-IN" dirty="0"/>
              <a:t>Directory listings</a:t>
            </a:r>
          </a:p>
          <a:p>
            <a:pPr lvl="1"/>
            <a:r>
              <a:rPr lang="en-IN" dirty="0"/>
              <a:t>Exposed configuration files</a:t>
            </a:r>
          </a:p>
          <a:p>
            <a:pPr lvl="1"/>
            <a:r>
              <a:rPr lang="en-IN" dirty="0"/>
              <a:t>Login pages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095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9535-FBB1-1841-DF13-957C9BA6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Google Dork?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596E-648D-58DF-299C-1436560FD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Google Dorking means using advanced Google search operators to find sensitive or hidden information that is publicly available on the internet.</a:t>
            </a:r>
          </a:p>
          <a:p>
            <a:endParaRPr lang="en-US" dirty="0"/>
          </a:p>
          <a:p>
            <a:r>
              <a:rPr lang="en-US" dirty="0"/>
              <a:t>Important to stress:</a:t>
            </a:r>
          </a:p>
          <a:p>
            <a:pPr lvl="1"/>
            <a:r>
              <a:rPr lang="en-US" dirty="0"/>
              <a:t>Google Dorks </a:t>
            </a:r>
            <a:r>
              <a:rPr lang="en-US" b="1" dirty="0"/>
              <a:t>do not hack</a:t>
            </a:r>
            <a:endParaRPr lang="en-US" dirty="0"/>
          </a:p>
          <a:p>
            <a:pPr lvl="1"/>
            <a:r>
              <a:rPr lang="en-US" dirty="0"/>
              <a:t>They only search what is </a:t>
            </a:r>
            <a:r>
              <a:rPr lang="en-US" b="1" dirty="0"/>
              <a:t>already public</a:t>
            </a:r>
            <a:endParaRPr lang="en-US" dirty="0"/>
          </a:p>
          <a:p>
            <a:pPr lvl="1"/>
            <a:r>
              <a:rPr lang="en-US" dirty="0"/>
              <a:t>The power comes from </a:t>
            </a:r>
            <a:r>
              <a:rPr lang="en-US" b="1" dirty="0"/>
              <a:t>smart searching</a:t>
            </a:r>
          </a:p>
          <a:p>
            <a:pPr lvl="1"/>
            <a:endParaRPr lang="en-US" dirty="0"/>
          </a:p>
          <a:p>
            <a:r>
              <a:rPr lang="en-US" dirty="0"/>
              <a:t>👉 “Google Dorks is like asking Google very specific questions.”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8782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22E7-A1C7-ED3D-74B8-32A648E1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Site:www.flipkart.com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BF3E7-96E3-F674-1755-67ACE17BF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Shows all indexed pages of the given website</a:t>
            </a:r>
          </a:p>
        </p:txBody>
      </p:sp>
      <p:pic>
        <p:nvPicPr>
          <p:cNvPr id="7" name="Picture 6" descr="A screenshot of a search engine&#10;&#10;AI-generated content may be incorrect.">
            <a:extLst>
              <a:ext uri="{FF2B5EF4-FFF2-40B4-BE49-F238E27FC236}">
                <a16:creationId xmlns:a16="http://schemas.microsoft.com/office/drawing/2014/main" id="{A17E94A2-51B8-CD47-44BA-EB58F877F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280" y="1723687"/>
            <a:ext cx="5634062" cy="48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32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A3D28-93AA-5FC9-DC7D-527DDDB3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ABD4-35EA-7B51-DA4D-1B4F07423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Site:www.flipkart.com</a:t>
            </a:r>
            <a:r>
              <a:rPr lang="en-IN" dirty="0"/>
              <a:t> </a:t>
            </a:r>
            <a:r>
              <a:rPr lang="en-IN" dirty="0" err="1"/>
              <a:t>filetype:pdf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9E112-5B12-B9AD-0165-18106C98A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Shows all indexed pdf of the given website</a:t>
            </a:r>
          </a:p>
        </p:txBody>
      </p:sp>
      <p:pic>
        <p:nvPicPr>
          <p:cNvPr id="7" name="Picture 6" descr="A screenshot of a search engine&#10;&#10;AI-generated content may be incorrect.">
            <a:extLst>
              <a:ext uri="{FF2B5EF4-FFF2-40B4-BE49-F238E27FC236}">
                <a16:creationId xmlns:a16="http://schemas.microsoft.com/office/drawing/2014/main" id="{D7D8D8D3-AC0D-D3FC-BFC9-B188160D5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280" y="1723687"/>
            <a:ext cx="5634062" cy="4829196"/>
          </a:xfrm>
          <a:prstGeom prst="rect">
            <a:avLst/>
          </a:prstGeom>
        </p:spPr>
      </p:pic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ECDC327-AB27-04E9-AF39-E48E6624B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529414"/>
            <a:ext cx="6164911" cy="498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970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91D8-55EC-CEAC-0B54-818ADCB31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B3B3-B5DB-D154-451B-6382A2F4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Site:www.amazon.com</a:t>
            </a:r>
            <a:r>
              <a:rPr lang="en-IN" dirty="0"/>
              <a:t> </a:t>
            </a:r>
            <a:r>
              <a:rPr lang="en-IN" dirty="0" err="1"/>
              <a:t>inurl:login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1A6FB-8FD6-A471-F235-A91C216F8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Shows all indexed login page of the given website</a:t>
            </a:r>
          </a:p>
        </p:txBody>
      </p:sp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F416820-5A0F-C074-38AD-E33AC32AF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342" y="1432559"/>
            <a:ext cx="6298052" cy="530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61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6F52-FDED-BAC6-A019-AAD02C6D0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1685E08-0A4D-36B7-542C-8DE0455F01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33742"/>
              </p:ext>
            </p:extLst>
          </p:nvPr>
        </p:nvGraphicFramePr>
        <p:xfrm>
          <a:off x="1326274" y="898019"/>
          <a:ext cx="10324952" cy="5650267"/>
        </p:xfrm>
        <a:graphic>
          <a:graphicData uri="http://schemas.openxmlformats.org/drawingml/2006/table">
            <a:tbl>
              <a:tblPr firstRow="1"/>
              <a:tblGrid>
                <a:gridCol w="438656">
                  <a:extLst>
                    <a:ext uri="{9D8B030D-6E8A-4147-A177-3AD203B41FA5}">
                      <a16:colId xmlns:a16="http://schemas.microsoft.com/office/drawing/2014/main" val="918685154"/>
                    </a:ext>
                  </a:extLst>
                </a:gridCol>
                <a:gridCol w="4723820">
                  <a:extLst>
                    <a:ext uri="{9D8B030D-6E8A-4147-A177-3AD203B41FA5}">
                      <a16:colId xmlns:a16="http://schemas.microsoft.com/office/drawing/2014/main" val="4115282043"/>
                    </a:ext>
                  </a:extLst>
                </a:gridCol>
                <a:gridCol w="2581238">
                  <a:extLst>
                    <a:ext uri="{9D8B030D-6E8A-4147-A177-3AD203B41FA5}">
                      <a16:colId xmlns:a16="http://schemas.microsoft.com/office/drawing/2014/main" val="196380670"/>
                    </a:ext>
                  </a:extLst>
                </a:gridCol>
                <a:gridCol w="2581238">
                  <a:extLst>
                    <a:ext uri="{9D8B030D-6E8A-4147-A177-3AD203B41FA5}">
                      <a16:colId xmlns:a16="http://schemas.microsoft.com/office/drawing/2014/main" val="2749963655"/>
                    </a:ext>
                  </a:extLst>
                </a:gridCol>
              </a:tblGrid>
              <a:tr h="388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S. No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Google Dork Query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What It Searches For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Cyber Security Use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979060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1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ourier New" panose="02070309020205020404" pitchFamily="49" charset="0"/>
                        </a:rPr>
                        <a:t>site:example.com</a:t>
                      </a:r>
                      <a:endParaRPr lang="en-IN" sz="18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All pages indexed by Google for the website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Understand overall website exposure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782676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2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urier New" panose="02070309020205020404" pitchFamily="49" charset="0"/>
                        </a:rPr>
                        <a:t>site:example.com filetype:pdf</a:t>
                      </a:r>
                      <a:endParaRPr lang="en-US" sz="18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Public PDF files on the website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Identify leaked documents or reports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478881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ourier New" panose="02070309020205020404" pitchFamily="49" charset="0"/>
                        </a:rPr>
                        <a:t>site:example.com filetype:docx</a:t>
                      </a:r>
                      <a:endParaRPr lang="en-IN" sz="18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Word documents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Check for exposed internal documents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611059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4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urier New" panose="02070309020205020404" pitchFamily="49" charset="0"/>
                        </a:rPr>
                        <a:t>site:example.com filetype:xls</a:t>
                      </a:r>
                      <a:endParaRPr lang="en-US" sz="18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Excel files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Detect financial or user data exposure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477509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5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ourier New" panose="02070309020205020404" pitchFamily="49" charset="0"/>
                        </a:rPr>
                        <a:t>site:example.com inurl:login</a:t>
                      </a:r>
                      <a:endParaRPr lang="en-IN" sz="18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Login pages or portals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Identify authentication entry points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837369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6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urier New" panose="02070309020205020404" pitchFamily="49" charset="0"/>
                        </a:rPr>
                        <a:t>site:example.com intitle:"login"</a:t>
                      </a:r>
                      <a:endParaRPr lang="en-US" sz="18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Pages with “login” in the title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/>
                        <a:t>Locate user/admin login pages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835904"/>
                  </a:ext>
                </a:extLst>
              </a:tr>
              <a:tr h="715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7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ourier New" panose="02070309020205020404" pitchFamily="49" charset="0"/>
                        </a:rPr>
                        <a:t>site:example.com intitle:"index of"</a:t>
                      </a:r>
                      <a:endParaRPr lang="en-US" sz="18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Open directory listings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Detect server misconfiguration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792578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8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>
                          <a:latin typeface="Courier New" panose="02070309020205020404" pitchFamily="49" charset="0"/>
                        </a:rPr>
                        <a:t>site:example.com</a:t>
                      </a:r>
                      <a:r>
                        <a:rPr lang="en-IN" sz="1800" b="1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IN" sz="1800" b="1" dirty="0" err="1">
                          <a:latin typeface="Courier New" panose="02070309020205020404" pitchFamily="49" charset="0"/>
                        </a:rPr>
                        <a:t>filetype:bak</a:t>
                      </a:r>
                      <a:endParaRPr lang="en-IN" sz="1800" b="1" dirty="0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Backup files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Find accidentally exposed backups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532382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9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ourier New" panose="02070309020205020404" pitchFamily="49" charset="0"/>
                        </a:rPr>
                        <a:t>site:example.com filetype:sql</a:t>
                      </a:r>
                      <a:endParaRPr lang="en-IN" sz="18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Database dump files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Check for database exposure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008266"/>
                  </a:ext>
                </a:extLst>
              </a:tr>
              <a:tr h="505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10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>
                          <a:latin typeface="Courier New" panose="02070309020205020404" pitchFamily="49" charset="0"/>
                        </a:rPr>
                        <a:t>site:example.com</a:t>
                      </a:r>
                      <a:r>
                        <a:rPr lang="en-IN" sz="1800" b="1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IN" sz="1800" b="1" dirty="0" err="1">
                          <a:latin typeface="Courier New" panose="02070309020205020404" pitchFamily="49" charset="0"/>
                        </a:rPr>
                        <a:t>filetype:conf</a:t>
                      </a:r>
                      <a:endParaRPr lang="en-IN" sz="1800" b="1" dirty="0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Configuration files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Identify leaked configuration details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94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29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A816D-243F-63E2-DA29-436F9148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C980-D604-D4A2-88EC-CE155BB1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38551F9-3A9F-9518-5A76-95F647FAAA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330247"/>
              </p:ext>
            </p:extLst>
          </p:nvPr>
        </p:nvGraphicFramePr>
        <p:xfrm>
          <a:off x="462116" y="976678"/>
          <a:ext cx="11238271" cy="5699042"/>
        </p:xfrm>
        <a:graphic>
          <a:graphicData uri="http://schemas.openxmlformats.org/drawingml/2006/table">
            <a:tbl>
              <a:tblPr firstRow="1"/>
              <a:tblGrid>
                <a:gridCol w="425911">
                  <a:extLst>
                    <a:ext uri="{9D8B030D-6E8A-4147-A177-3AD203B41FA5}">
                      <a16:colId xmlns:a16="http://schemas.microsoft.com/office/drawing/2014/main" val="918685154"/>
                    </a:ext>
                  </a:extLst>
                </a:gridCol>
                <a:gridCol w="5193224">
                  <a:extLst>
                    <a:ext uri="{9D8B030D-6E8A-4147-A177-3AD203B41FA5}">
                      <a16:colId xmlns:a16="http://schemas.microsoft.com/office/drawing/2014/main" val="4115282043"/>
                    </a:ext>
                  </a:extLst>
                </a:gridCol>
                <a:gridCol w="2809568">
                  <a:extLst>
                    <a:ext uri="{9D8B030D-6E8A-4147-A177-3AD203B41FA5}">
                      <a16:colId xmlns:a16="http://schemas.microsoft.com/office/drawing/2014/main" val="196380670"/>
                    </a:ext>
                  </a:extLst>
                </a:gridCol>
                <a:gridCol w="2809568">
                  <a:extLst>
                    <a:ext uri="{9D8B030D-6E8A-4147-A177-3AD203B41FA5}">
                      <a16:colId xmlns:a16="http://schemas.microsoft.com/office/drawing/2014/main" val="2749963655"/>
                    </a:ext>
                  </a:extLst>
                </a:gridCol>
              </a:tblGrid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S. No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Google Dork Query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What It Searches For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Cyber Security Use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979060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11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ourier New" panose="02070309020205020404" pitchFamily="49" charset="0"/>
                        </a:rPr>
                        <a:t>site:example.com inurl:admin</a:t>
                      </a:r>
                      <a:endParaRPr lang="en-IN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Admin pages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Detect exposed admin interfaces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436234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12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ourier New" panose="02070309020205020404" pitchFamily="49" charset="0"/>
                        </a:rPr>
                        <a:t>site:example.com inurl:config</a:t>
                      </a:r>
                      <a:endParaRPr lang="en-IN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Configuration-related URLs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Identify misconfigured services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203798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13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ourier New" panose="02070309020205020404" pitchFamily="49" charset="0"/>
                        </a:rPr>
                        <a:t>site:example.com filetype:log</a:t>
                      </a:r>
                      <a:endParaRPr lang="en-IN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Log files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Detect exposed system or access logs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356062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14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ourier New" panose="02070309020205020404" pitchFamily="49" charset="0"/>
                        </a:rPr>
                        <a:t>site:example.com inurl:backup</a:t>
                      </a:r>
                      <a:endParaRPr lang="en-IN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Backup directories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Check for public backup folders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100056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15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ourier New" panose="02070309020205020404" pitchFamily="49" charset="0"/>
                        </a:rPr>
                        <a:t>site:example.com filetype:txt</a:t>
                      </a:r>
                      <a:endParaRPr lang="en-IN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Text files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Identify notes or sensitive data leaks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138101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16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ourier New" panose="02070309020205020404" pitchFamily="49" charset="0"/>
                        </a:rPr>
                        <a:t>site:example.com intitle:"error"</a:t>
                      </a:r>
                      <a:endParaRPr lang="en-IN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Error pages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Reveal application misconfigurations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983505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17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ourier New" panose="02070309020205020404" pitchFamily="49" charset="0"/>
                        </a:rPr>
                        <a:t>site:example.com inurl:test</a:t>
                      </a:r>
                      <a:endParaRPr lang="en-US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Test or development pages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Detect leftover test environments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291615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18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ourier New" panose="02070309020205020404" pitchFamily="49" charset="0"/>
                        </a:rPr>
                        <a:t>site:example.com filetype:env</a:t>
                      </a:r>
                      <a:endParaRPr lang="en-IN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Environment configuration files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Detect exposed API keys or secrets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000096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19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ourier New" panose="02070309020205020404" pitchFamily="49" charset="0"/>
                        </a:rPr>
                        <a:t>site:example.com "password"</a:t>
                      </a:r>
                      <a:endParaRPr lang="en-IN" sz="2000" b="1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Pages containing the word “password”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Identify poor security practices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039374"/>
                  </a:ext>
                </a:extLst>
              </a:tr>
              <a:tr h="469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 err="1">
                          <a:latin typeface="Courier New" panose="02070309020205020404" pitchFamily="49" charset="0"/>
                        </a:rPr>
                        <a:t>site:example.com</a:t>
                      </a:r>
                      <a:r>
                        <a:rPr lang="en-US" sz="2000" b="1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2000" b="1" dirty="0" err="1">
                          <a:latin typeface="Courier New" panose="02070309020205020404" pitchFamily="49" charset="0"/>
                        </a:rPr>
                        <a:t>inurl:uploads</a:t>
                      </a:r>
                      <a:endParaRPr lang="en-US" sz="2000" b="1" dirty="0"/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Upload directories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Check exposure of uploaded files</a:t>
                      </a:r>
                    </a:p>
                  </a:txBody>
                  <a:tcPr marL="35238" marR="35238" marT="17619" marB="176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589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619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DB48-C1B2-9C2C-179D-1812F9ABB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Why Google Dorks are used in Reconnaissance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8617-4455-A328-F193-D4BEED7C0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Websites often expose:</a:t>
            </a:r>
          </a:p>
          <a:p>
            <a:pPr lvl="1"/>
            <a:r>
              <a:rPr lang="en-US" dirty="0"/>
              <a:t>PDF files</a:t>
            </a:r>
          </a:p>
          <a:p>
            <a:pPr lvl="1"/>
            <a:r>
              <a:rPr lang="en-US" dirty="0"/>
              <a:t>Login pages</a:t>
            </a:r>
          </a:p>
          <a:p>
            <a:pPr lvl="1"/>
            <a:r>
              <a:rPr lang="en-US" dirty="0"/>
              <a:t>Backup files</a:t>
            </a:r>
          </a:p>
          <a:p>
            <a:pPr lvl="1"/>
            <a:r>
              <a:rPr lang="en-US" dirty="0"/>
              <a:t>Configuration files</a:t>
            </a:r>
          </a:p>
          <a:p>
            <a:r>
              <a:rPr lang="en-US" dirty="0"/>
              <a:t>Normal Google search may not show them</a:t>
            </a:r>
          </a:p>
          <a:p>
            <a:r>
              <a:rPr lang="en-US" dirty="0"/>
              <a:t>Google Dorks help attackers </a:t>
            </a:r>
            <a:r>
              <a:rPr lang="en-US" b="1" dirty="0"/>
              <a:t>discover hidden exposure</a:t>
            </a:r>
            <a:endParaRPr lang="en-US" dirty="0"/>
          </a:p>
          <a:p>
            <a:r>
              <a:rPr lang="en-US" dirty="0"/>
              <a:t>Defenders use it to </a:t>
            </a:r>
            <a:r>
              <a:rPr lang="en-US" b="1" dirty="0"/>
              <a:t>fix leaks before attackers find them</a:t>
            </a:r>
          </a:p>
          <a:p>
            <a:endParaRPr lang="en-US" dirty="0"/>
          </a:p>
          <a:p>
            <a:r>
              <a:rPr lang="en-US" dirty="0"/>
              <a:t>👉 “If Google can find it, attackers can find it.”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318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AD80-37A2-34EE-C543-06495F57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Google Dorks work (core idea)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379F2-1A14-EECF-DB14-0981B90ED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Google provides </a:t>
            </a:r>
            <a:r>
              <a:rPr lang="en-IN" b="1" dirty="0"/>
              <a:t>search operators</a:t>
            </a:r>
            <a:r>
              <a:rPr lang="en-IN" dirty="0"/>
              <a:t> like:</a:t>
            </a:r>
          </a:p>
          <a:p>
            <a:pPr lvl="1"/>
            <a:r>
              <a:rPr lang="en-IN" dirty="0"/>
              <a:t>site: → search within a website</a:t>
            </a:r>
          </a:p>
          <a:p>
            <a:pPr lvl="1"/>
            <a:r>
              <a:rPr lang="en-IN" dirty="0"/>
              <a:t>filetype: → search specific file types</a:t>
            </a:r>
          </a:p>
          <a:p>
            <a:pPr lvl="1"/>
            <a:r>
              <a:rPr lang="en-IN" dirty="0"/>
              <a:t>intitle: → search page titles</a:t>
            </a:r>
          </a:p>
          <a:p>
            <a:pPr lvl="1"/>
            <a:r>
              <a:rPr lang="en-IN" dirty="0" err="1"/>
              <a:t>inurl</a:t>
            </a:r>
            <a:r>
              <a:rPr lang="en-IN" dirty="0"/>
              <a:t>: → search URLs</a:t>
            </a:r>
          </a:p>
          <a:p>
            <a:r>
              <a:rPr lang="en-IN" dirty="0"/>
              <a:t>Google Dorks combine these operators.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652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7508-69D6-178C-D90F-A3A425BA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5E4BD-B2B7-5DED-BC16-A2D9E52C8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Step-by-Step: How to use Google Dorks </a:t>
            </a:r>
          </a:p>
          <a:p>
            <a:r>
              <a:rPr lang="en-US" b="1" dirty="0"/>
              <a:t>Step 1: Open Google</a:t>
            </a:r>
          </a:p>
          <a:p>
            <a:r>
              <a:rPr lang="en-US" dirty="0"/>
              <a:t>Just use a normal browser.</a:t>
            </a:r>
          </a:p>
          <a:p>
            <a:endParaRPr lang="en-US" dirty="0"/>
          </a:p>
          <a:p>
            <a:r>
              <a:rPr lang="en-US" b="1" dirty="0"/>
              <a:t>Step 2: Use basic site search</a:t>
            </a:r>
          </a:p>
          <a:p>
            <a:r>
              <a:rPr lang="en-US" dirty="0" err="1"/>
              <a:t>site:example.com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Step 3: Find public documents</a:t>
            </a:r>
          </a:p>
          <a:p>
            <a:r>
              <a:rPr lang="en-US" dirty="0" err="1"/>
              <a:t>site:example.com</a:t>
            </a:r>
            <a:r>
              <a:rPr lang="en-US" dirty="0"/>
              <a:t> </a:t>
            </a:r>
            <a:r>
              <a:rPr lang="en-US" dirty="0" err="1"/>
              <a:t>filetype:pdf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236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B3B9-0D3D-8C11-26ED-4C674EE3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4F5F4-BDD3-C919-0CB6-5A8D1D4E5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Step 4: Look for login pages</a:t>
            </a:r>
          </a:p>
          <a:p>
            <a:r>
              <a:rPr lang="en-IN" dirty="0" err="1"/>
              <a:t>site:example.com</a:t>
            </a:r>
            <a:r>
              <a:rPr lang="en-IN" dirty="0"/>
              <a:t> </a:t>
            </a:r>
            <a:r>
              <a:rPr lang="en-IN" dirty="0" err="1"/>
              <a:t>inurl:login</a:t>
            </a:r>
            <a:endParaRPr lang="en-IN" dirty="0"/>
          </a:p>
          <a:p>
            <a:r>
              <a:rPr lang="en-IN" dirty="0"/>
              <a:t>👉 Finds login portals.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Step 5: Check directory listing</a:t>
            </a:r>
          </a:p>
          <a:p>
            <a:r>
              <a:rPr lang="en-IN" dirty="0" err="1"/>
              <a:t>site:example.com</a:t>
            </a:r>
            <a:r>
              <a:rPr lang="en-IN" dirty="0"/>
              <a:t> </a:t>
            </a:r>
            <a:r>
              <a:rPr lang="en-IN" dirty="0" err="1"/>
              <a:t>intitle:"index</a:t>
            </a:r>
            <a:r>
              <a:rPr lang="en-IN" dirty="0"/>
              <a:t> of"</a:t>
            </a:r>
          </a:p>
          <a:p>
            <a:r>
              <a:rPr lang="en-IN" dirty="0"/>
              <a:t>👉 Finds open directories (misconfiguration).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731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346B-DBBD-BC2A-842E-ED24C84B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EF765-B8A8-B1FE-A41B-30767813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 kind of information Google Dorks can reveal</a:t>
            </a:r>
          </a:p>
          <a:p>
            <a:r>
              <a:rPr lang="en-IN" dirty="0"/>
              <a:t>Teach students to observe:</a:t>
            </a:r>
          </a:p>
          <a:p>
            <a:r>
              <a:rPr lang="en-IN" dirty="0"/>
              <a:t>Public reports</a:t>
            </a:r>
          </a:p>
          <a:p>
            <a:r>
              <a:rPr lang="en-IN" dirty="0"/>
              <a:t>User manuals</a:t>
            </a:r>
          </a:p>
          <a:p>
            <a:r>
              <a:rPr lang="en-IN" dirty="0"/>
              <a:t>Employee documents</a:t>
            </a:r>
          </a:p>
          <a:p>
            <a:r>
              <a:rPr lang="en-IN" dirty="0"/>
              <a:t>Backup files</a:t>
            </a:r>
          </a:p>
          <a:p>
            <a:r>
              <a:rPr lang="en-IN" dirty="0"/>
              <a:t>Admin panels (login pages)</a:t>
            </a:r>
          </a:p>
          <a:p>
            <a:r>
              <a:rPr lang="en-IN" dirty="0"/>
              <a:t>⚠️ Important:</a:t>
            </a:r>
          </a:p>
          <a:p>
            <a:r>
              <a:rPr lang="en-IN" dirty="0"/>
              <a:t>“Finding is allowed. Exploiting is NOT allowed.”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869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A913-40A5-9390-D80A-AC38808F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Ethical warning (VERY IMPORTANT)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8E2BF-0607-C377-0EAF-C3E8CB728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❌ Do not access private data</a:t>
            </a:r>
          </a:p>
          <a:p>
            <a:r>
              <a:rPr lang="en-US" dirty="0"/>
              <a:t>❌ Do not bypass authentication</a:t>
            </a:r>
          </a:p>
          <a:p>
            <a:r>
              <a:rPr lang="en-US" dirty="0"/>
              <a:t>❌ Do not download confidential files</a:t>
            </a:r>
          </a:p>
          <a:p>
            <a:r>
              <a:rPr lang="en-US" dirty="0"/>
              <a:t>👉 Google Dorks is for </a:t>
            </a:r>
            <a:r>
              <a:rPr lang="en-US" b="1" dirty="0"/>
              <a:t>awareness, not misuse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42E2D-04FB-E4CB-6F73-B53229FB8610}"/>
              </a:ext>
            </a:extLst>
          </p:cNvPr>
          <p:cNvSpPr txBox="1"/>
          <p:nvPr/>
        </p:nvSpPr>
        <p:spPr>
          <a:xfrm>
            <a:off x="1327355" y="3923522"/>
            <a:ext cx="9881419" cy="156966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/>
              <a:t>“Nmap shows what the server exposes, WHOIS shows who owns it, and Google Dorks shows what the world can already see.”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310901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1035-FAA3-FB78-3C8B-EE3FCDE9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6 – Identify Attack Surface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18DF4-C3AE-98C4-0433-6A8623E7C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findings, analyze:</a:t>
            </a:r>
          </a:p>
          <a:p>
            <a:r>
              <a:rPr lang="en-US" dirty="0"/>
              <a:t>Exposed services</a:t>
            </a:r>
          </a:p>
          <a:p>
            <a:r>
              <a:rPr lang="en-US" dirty="0"/>
              <a:t>Publicly accessible files</a:t>
            </a:r>
          </a:p>
          <a:p>
            <a:r>
              <a:rPr lang="en-US" dirty="0"/>
              <a:t>Technology stack clues</a:t>
            </a:r>
          </a:p>
          <a:p>
            <a:r>
              <a:rPr lang="en-US" dirty="0"/>
              <a:t>Possible misconfigurations</a:t>
            </a:r>
          </a:p>
          <a:p>
            <a:r>
              <a:rPr lang="en-US" b="1" dirty="0"/>
              <a:t>Note:</a:t>
            </a:r>
            <a:br>
              <a:rPr lang="en-US" dirty="0"/>
            </a:br>
            <a:r>
              <a:rPr lang="en-US" dirty="0"/>
              <a:t>This is </a:t>
            </a:r>
            <a:r>
              <a:rPr lang="en-US" b="1" dirty="0"/>
              <a:t>analysis only</a:t>
            </a:r>
            <a:r>
              <a:rPr lang="en-US" dirty="0"/>
              <a:t>, not exploitation.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745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A250-AAAF-7748-BA18-9BD024EB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Observations and Documentation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6BD33-067A-957D-9843-8ADB84C3A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should document:</a:t>
            </a:r>
          </a:p>
          <a:p>
            <a:r>
              <a:rPr lang="en-US" dirty="0"/>
              <a:t>Nmap scan results</a:t>
            </a:r>
          </a:p>
          <a:p>
            <a:r>
              <a:rPr lang="en-US" dirty="0" err="1"/>
              <a:t>Whois</a:t>
            </a:r>
            <a:r>
              <a:rPr lang="en-US" dirty="0"/>
              <a:t> information</a:t>
            </a:r>
          </a:p>
          <a:p>
            <a:r>
              <a:rPr lang="en-US" dirty="0"/>
              <a:t>Google Dorks findings</a:t>
            </a:r>
          </a:p>
          <a:p>
            <a:r>
              <a:rPr lang="en-US" dirty="0"/>
              <a:t>Screenshots of commands and outputs</a:t>
            </a:r>
          </a:p>
          <a:p>
            <a:r>
              <a:rPr lang="en-US" dirty="0"/>
              <a:t>Observations on exposure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921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A8E5-8463-2226-E90C-D44585F8C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Observation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EAD81-319E-4616-E555-241690B81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Website runs HTTP and HTTPS</a:t>
            </a:r>
          </a:p>
          <a:p>
            <a:r>
              <a:rPr lang="en-US" dirty="0"/>
              <a:t>Uses Apache web server</a:t>
            </a:r>
          </a:p>
          <a:p>
            <a:r>
              <a:rPr lang="en-US" dirty="0"/>
              <a:t>Domain registered recently</a:t>
            </a:r>
          </a:p>
          <a:p>
            <a:r>
              <a:rPr lang="en-US" dirty="0"/>
              <a:t>Public PDF files accessible</a:t>
            </a:r>
          </a:p>
          <a:p>
            <a:r>
              <a:rPr lang="en-US" dirty="0"/>
              <a:t>No critical exposure observed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368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8A0A-4804-CE0B-50B1-8CB0990A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Lab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891C-A53F-B04E-B9EE-4EC90AD6B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Reconnaissance is the foundation of cyber security assessment</a:t>
            </a:r>
          </a:p>
          <a:p>
            <a:r>
              <a:rPr lang="en-IN" dirty="0"/>
              <a:t>OSINT helps gather valuable public information</a:t>
            </a:r>
          </a:p>
          <a:p>
            <a:r>
              <a:rPr lang="en-IN" dirty="0"/>
              <a:t>Nmap identifies technical exposure</a:t>
            </a:r>
          </a:p>
          <a:p>
            <a:r>
              <a:rPr lang="en-IN" dirty="0" err="1"/>
              <a:t>Whois</a:t>
            </a:r>
            <a:r>
              <a:rPr lang="en-IN" dirty="0"/>
              <a:t> provides domain-level intelligence</a:t>
            </a:r>
          </a:p>
          <a:p>
            <a:r>
              <a:rPr lang="en-IN" dirty="0"/>
              <a:t>Google Dorks reveal hidden public data</a:t>
            </a:r>
          </a:p>
          <a:p>
            <a:r>
              <a:rPr lang="en-IN" dirty="0"/>
              <a:t>Ethical use of reconnaissance strengthens security posture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086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B44A-71D6-4B90-DC58-19AA58AF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743D-F526-0864-15C5-63E700D37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lab demonstrated how reconnaissance and OSINT techniques help understand a website’s exposure without performing attacks. These skills are essential for both attackers and defenders to improve cyber security.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694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1730</Words>
  <Application>Microsoft Office PowerPoint</Application>
  <PresentationFormat>Widescreen</PresentationFormat>
  <Paragraphs>389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Lab Objectives</vt:lpstr>
      <vt:lpstr>Lab Outcomes</vt:lpstr>
      <vt:lpstr>What is Reconnaissance?</vt:lpstr>
      <vt:lpstr>Why Reconnaissance is Used</vt:lpstr>
      <vt:lpstr>Where Reconnaissance is Used</vt:lpstr>
      <vt:lpstr>Tools Used</vt:lpstr>
      <vt:lpstr>Ethical Guidelines (Important)</vt:lpstr>
      <vt:lpstr>Step 1 – Install “nmap”</vt:lpstr>
      <vt:lpstr>Step 2 – Reconnaissance using Nmap</vt:lpstr>
      <vt:lpstr>Open Ports Found</vt:lpstr>
      <vt:lpstr>Why Google has many open ports (critical concept)</vt:lpstr>
      <vt:lpstr>What NOT to do (VERY IMPORTANT FOR ETHICS)</vt:lpstr>
      <vt:lpstr>Step 3 – Analyze Nmap Results</vt:lpstr>
      <vt:lpstr>Step 4 – Whois Lookup</vt:lpstr>
      <vt:lpstr>WHOIS output </vt:lpstr>
      <vt:lpstr>Try: Whois-&gt; www.flipkart.com</vt:lpstr>
      <vt:lpstr>Step 5 – Google Dorks for OSINT</vt:lpstr>
      <vt:lpstr>What is Google Dork? </vt:lpstr>
      <vt:lpstr>Site:www.flipkart.com</vt:lpstr>
      <vt:lpstr>Site:www.flipkart.com filetype:pdf</vt:lpstr>
      <vt:lpstr>Site:www.amazon.com inurl:login</vt:lpstr>
      <vt:lpstr>Examples</vt:lpstr>
      <vt:lpstr>Examples</vt:lpstr>
      <vt:lpstr>Why Google Dorks are used in Reconnaissance</vt:lpstr>
      <vt:lpstr>How Google Dorks work (core idea)</vt:lpstr>
      <vt:lpstr>Steps</vt:lpstr>
      <vt:lpstr>Steps</vt:lpstr>
      <vt:lpstr>Steps</vt:lpstr>
      <vt:lpstr>Ethical warning (VERY IMPORTANT)</vt:lpstr>
      <vt:lpstr>Step 6 – Identify Attack Surface</vt:lpstr>
      <vt:lpstr>Observations and Documentation</vt:lpstr>
      <vt:lpstr>Sample Observation</vt:lpstr>
      <vt:lpstr>Lab Summary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Rajchandar K</dc:creator>
  <cp:lastModifiedBy>Dr. Rajchandar K</cp:lastModifiedBy>
  <cp:revision>47</cp:revision>
  <dcterms:created xsi:type="dcterms:W3CDTF">2025-07-15T07:11:10Z</dcterms:created>
  <dcterms:modified xsi:type="dcterms:W3CDTF">2026-01-05T09:22:09Z</dcterms:modified>
</cp:coreProperties>
</file>